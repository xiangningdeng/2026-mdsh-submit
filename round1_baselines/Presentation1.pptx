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6" r:id="rId2"/>
    <p:sldId id="277" r:id="rId3"/>
    <p:sldId id="278" r:id="rId4"/>
    <p:sldId id="279" r:id="rId5"/>
    <p:sldId id="28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1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591"/>
  </p:normalViewPr>
  <p:slideViewPr>
    <p:cSldViewPr snapToGrid="0">
      <p:cViewPr varScale="1">
        <p:scale>
          <a:sx n="90" d="100"/>
          <a:sy n="90" d="100"/>
        </p:scale>
        <p:origin x="23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F318-063B-DE99-F0FA-8A820B87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33058-8FF4-6B6F-646F-313A042B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FF66A-8AE9-BC1A-2EFF-E160FC9BF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33EDB-F82E-C07D-A0EA-95689D7570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685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F0D6B33-C56A-4E68-A3FA-260191D91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952F464-F44E-4BEC-A5B4-C5962102A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F415BF6-16A3-432F-BFA2-50C5C4820D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AE7FDB1-0E3F-41CC-A41D-6EA481239D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6CCE8E0-A566-4F9A-A195-7C509C302A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E0D5-0DB9-A441-91E1-CC6A6095E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38089"/>
            <a:ext cx="12192000" cy="1968810"/>
          </a:xfrm>
        </p:spPr>
        <p:txBody>
          <a:bodyPr anchor="b" anchorCtr="0">
            <a:noAutofit/>
          </a:bodyPr>
          <a:lstStyle/>
          <a:p>
            <a:pPr rtl="0"/>
            <a:br>
              <a:rPr lang="en-US" sz="5750" b="1" dirty="0">
                <a:solidFill>
                  <a:srgbClr val="003B5C"/>
                </a:solidFill>
                <a:latin typeface="Arial"/>
                <a:cs typeface="Arial"/>
              </a:rPr>
            </a:br>
            <a:r>
              <a:rPr lang="en-US" sz="5750" b="1" dirty="0">
                <a:solidFill>
                  <a:srgbClr val="003B5C"/>
                </a:solidFill>
                <a:latin typeface="Arial"/>
                <a:cs typeface="Arial"/>
              </a:rPr>
              <a:t>MIND: </a:t>
            </a:r>
            <a:r>
              <a:rPr lang="en-US" sz="5750" b="1" dirty="0" err="1">
                <a:solidFill>
                  <a:srgbClr val="003B5C"/>
                </a:solidFill>
                <a:latin typeface="Arial"/>
                <a:cs typeface="Arial"/>
              </a:rPr>
              <a:t>MIcrosoft</a:t>
            </a:r>
            <a:r>
              <a:rPr lang="en-US" sz="5750" b="1" dirty="0">
                <a:solidFill>
                  <a:srgbClr val="003B5C"/>
                </a:solidFill>
                <a:latin typeface="Arial"/>
                <a:cs typeface="Arial"/>
              </a:rPr>
              <a:t> News Dataset</a:t>
            </a:r>
            <a:br>
              <a:rPr lang="en-US" b="1" dirty="0"/>
            </a:br>
            <a:endParaRPr lang="en-US" sz="5750" b="1" dirty="0">
              <a:solidFill>
                <a:srgbClr val="003B5C"/>
              </a:solidFill>
              <a:latin typeface="Arial"/>
              <a:cs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399" y="3171470"/>
            <a:ext cx="10363200" cy="0"/>
          </a:xfrm>
          <a:prstGeom prst="line">
            <a:avLst/>
          </a:prstGeom>
          <a:ln w="25400">
            <a:solidFill>
              <a:srgbClr val="FFC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93B428DE-64A6-C146-AB8F-A888771A2B87}"/>
              </a:ext>
            </a:extLst>
          </p:cNvPr>
          <p:cNvSpPr txBox="1">
            <a:spLocks/>
          </p:cNvSpPr>
          <p:nvPr/>
        </p:nvSpPr>
        <p:spPr>
          <a:xfrm>
            <a:off x="723097" y="3606899"/>
            <a:ext cx="10745803" cy="1267351"/>
          </a:xfrm>
          <a:prstGeom prst="rect">
            <a:avLst/>
          </a:prstGeom>
        </p:spPr>
        <p:txBody>
          <a:bodyPr vert="horz" lIns="108852" tIns="54426" rIns="108852" bIns="54426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3B5C"/>
                </a:solidFill>
                <a:latin typeface="Arial"/>
                <a:cs typeface="Arial"/>
              </a:rPr>
              <a:t>A Large-Scale English News Recommendation Research</a:t>
            </a:r>
          </a:p>
          <a:p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Tea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m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#6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32" y="5704499"/>
            <a:ext cx="2776735" cy="85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5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0054740A-BB1C-467E-B0E0-6DD866723F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ECA81-FDE2-4700-BF44-209DF1F818B2}"/>
              </a:ext>
            </a:extLst>
          </p:cNvPr>
          <p:cNvSpPr>
            <a:spLocks noGrp="1"/>
          </p:cNvSpPr>
          <p:nvPr/>
        </p:nvSpPr>
        <p:spPr>
          <a:xfrm>
            <a:off x="781050" y="1690793"/>
            <a:ext cx="5143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4000" b="1" dirty="0">
                <a:solidFill>
                  <a:srgbClr val="000000"/>
                </a:solidFill>
              </a:rPr>
              <a:t>MIND Dataset</a:t>
            </a:r>
          </a:p>
          <a:p>
            <a:pPr algn="l">
              <a:defRPr sz="2550" b="1">
                <a:solidFill>
                  <a:srgbClr val="000000"/>
                </a:solidFill>
              </a:defRPr>
            </a:pPr>
            <a:r>
              <a:rPr sz="4000" b="1" dirty="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B8BCEE-51A8-482B-8C03-07C28210B241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4953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4546A"/>
                </a:solidFill>
              </a:defRPr>
            </a:pPr>
            <a:r>
              <a:rPr sz="1500" b="0">
                <a:solidFill>
                  <a:srgbClr val="44546A"/>
                </a:solidFill>
              </a:rPr>
              <a:t>MIND is Microsoft's large-scale English news recommendation benchmark. This deck introduces what the dataset is, how it is organized, and why it is widely used in recommender-system research.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EF6745-575E-4B4B-BBFB-B7E37AD22783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1714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1B8A5-C7BD-4AE2-81E0-207B0D939181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171450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59A410-23A8-4BD5-A2F4-80A20B04C711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160k+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EA53C-F917-4420-925F-7137A2DA2349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English news articles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6B3C48-54EC-4E0F-9AA0-B32B9EA51C6E}"/>
              </a:ext>
            </a:extLst>
          </p:cNvPr>
          <p:cNvSpPr>
            <a:spLocks noGrp="1"/>
          </p:cNvSpPr>
          <p:nvPr/>
        </p:nvSpPr>
        <p:spPr>
          <a:xfrm>
            <a:off x="2667000" y="5181600"/>
            <a:ext cx="1714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9ADC2-1E02-42E2-8A9C-079E4EF39AD2}"/>
              </a:ext>
            </a:extLst>
          </p:cNvPr>
          <p:cNvSpPr>
            <a:spLocks noGrp="1"/>
          </p:cNvSpPr>
          <p:nvPr/>
        </p:nvSpPr>
        <p:spPr>
          <a:xfrm>
            <a:off x="2667000" y="5181600"/>
            <a:ext cx="171450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1D3E6-8730-4E44-81A9-A40614072E31}"/>
              </a:ext>
            </a:extLst>
          </p:cNvPr>
          <p:cNvSpPr>
            <a:spLocks noGrp="1"/>
          </p:cNvSpPr>
          <p:nvPr/>
        </p:nvSpPr>
        <p:spPr>
          <a:xfrm>
            <a:off x="2819400" y="53530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15M+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EA127B-3F9C-495F-9517-FF8E2CAEC848}"/>
              </a:ext>
            </a:extLst>
          </p:cNvPr>
          <p:cNvSpPr>
            <a:spLocks noGrp="1"/>
          </p:cNvSpPr>
          <p:nvPr/>
        </p:nvSpPr>
        <p:spPr>
          <a:xfrm>
            <a:off x="2819400" y="573405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impression logs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F70916-BCBC-4EF6-8196-64C9CC4F790E}"/>
              </a:ext>
            </a:extLst>
          </p:cNvPr>
          <p:cNvSpPr>
            <a:spLocks noGrp="1"/>
          </p:cNvSpPr>
          <p:nvPr/>
        </p:nvSpPr>
        <p:spPr>
          <a:xfrm>
            <a:off x="4533900" y="5181600"/>
            <a:ext cx="1143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1FDB17-0D1D-494C-8ACF-78A862BDF676}"/>
              </a:ext>
            </a:extLst>
          </p:cNvPr>
          <p:cNvSpPr>
            <a:spLocks noGrp="1"/>
          </p:cNvSpPr>
          <p:nvPr/>
        </p:nvSpPr>
        <p:spPr>
          <a:xfrm>
            <a:off x="4533900" y="5181600"/>
            <a:ext cx="114300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E519E-B9D7-4C1B-826B-D6D950A5782F}"/>
              </a:ext>
            </a:extLst>
          </p:cNvPr>
          <p:cNvSpPr>
            <a:spLocks noGrp="1"/>
          </p:cNvSpPr>
          <p:nvPr/>
        </p:nvSpPr>
        <p:spPr>
          <a:xfrm>
            <a:off x="4686300" y="5353050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D9B747-4E0F-476B-BFCC-94B3EB597EA9}"/>
              </a:ext>
            </a:extLst>
          </p:cNvPr>
          <p:cNvSpPr>
            <a:spLocks noGrp="1"/>
          </p:cNvSpPr>
          <p:nvPr/>
        </p:nvSpPr>
        <p:spPr>
          <a:xfrm>
            <a:off x="4686300" y="573405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users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2CB63C-BEF5-4F06-8537-4630D56B0FCB}"/>
              </a:ext>
            </a:extLst>
          </p:cNvPr>
          <p:cNvSpPr>
            <a:spLocks noGrp="1"/>
          </p:cNvSpPr>
          <p:nvPr/>
        </p:nvSpPr>
        <p:spPr>
          <a:xfrm>
            <a:off x="6667500" y="1447800"/>
            <a:ext cx="4095750" cy="1600200"/>
          </a:xfrm>
          <a:prstGeom prst="roundRect">
            <a:avLst>
              <a:gd name="adj" fmla="val 5128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B9D4C7-F669-4A4C-A1FB-31FA075A5C18}"/>
              </a:ext>
            </a:extLst>
          </p:cNvPr>
          <p:cNvSpPr>
            <a:spLocks noGrp="1"/>
          </p:cNvSpPr>
          <p:nvPr/>
        </p:nvSpPr>
        <p:spPr>
          <a:xfrm>
            <a:off x="6838950" y="158115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B9B30-EA97-4045-BE12-9A7EAF6B9B1D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37528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Official website: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https://msnews.github.io</a:t>
            </a:r>
          </a:p>
          <a:p>
            <a:endParaRPr sz="1350" b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Primary paper: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Wu et al., ACL 2020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EEF7AB-F954-4B2F-A652-B331F6CD2421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A71F94-9E93-4BC6-A817-8230DAF0EBED}"/>
              </a:ext>
            </a:extLst>
          </p:cNvPr>
          <p:cNvSpPr>
            <a:spLocks noGrp="1"/>
          </p:cNvSpPr>
          <p:nvPr/>
        </p:nvSpPr>
        <p:spPr>
          <a:xfrm>
            <a:off x="6838950" y="329565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WHY IT MATTERS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613839-B4BC-42DF-BAAF-9526C549361B}"/>
              </a:ext>
            </a:extLst>
          </p:cNvPr>
          <p:cNvSpPr>
            <a:spLocks noGrp="1"/>
          </p:cNvSpPr>
          <p:nvPr/>
        </p:nvSpPr>
        <p:spPr>
          <a:xfrm>
            <a:off x="6838950" y="3581400"/>
            <a:ext cx="37528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MIND is </a:t>
            </a:r>
            <a:r>
              <a:rPr lang="en-US" sz="1350" b="0" dirty="0">
                <a:solidFill>
                  <a:srgbClr val="44546A"/>
                </a:solidFill>
              </a:rPr>
              <a:t>a</a:t>
            </a:r>
            <a:r>
              <a:rPr lang="zh-CN" altLang="en-US" sz="1350" b="0" dirty="0">
                <a:solidFill>
                  <a:srgbClr val="44546A"/>
                </a:solidFill>
              </a:rPr>
              <a:t> </a:t>
            </a:r>
            <a:r>
              <a:rPr sz="1350" b="0" dirty="0">
                <a:solidFill>
                  <a:srgbClr val="44546A"/>
                </a:solidFill>
              </a:rPr>
              <a:t>public benchmark for personalized news recommendation. It supports content-based, collaborative, recall-stage, and ranking-stage modeling under a shared evaluation setup.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F001079-4EB0-474E-A12D-B9AB85C314A7}"/>
              </a:ext>
            </a:extLst>
          </p:cNvPr>
          <p:cNvSpPr>
            <a:spLocks noGrp="1"/>
          </p:cNvSpPr>
          <p:nvPr/>
        </p:nvSpPr>
        <p:spPr>
          <a:xfrm>
            <a:off x="6667500" y="5010150"/>
            <a:ext cx="4095750" cy="1314450"/>
          </a:xfrm>
          <a:prstGeom prst="roundRect">
            <a:avLst>
              <a:gd name="adj" fmla="val 6897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46C177-53C8-4471-93E5-EFDA106B196D}"/>
              </a:ext>
            </a:extLst>
          </p:cNvPr>
          <p:cNvSpPr>
            <a:spLocks noGrp="1"/>
          </p:cNvSpPr>
          <p:nvPr/>
        </p:nvSpPr>
        <p:spPr>
          <a:xfrm>
            <a:off x="6838950" y="514350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MAIN IDEA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0E8781-4849-49F6-8F11-3552EB83871B}"/>
              </a:ext>
            </a:extLst>
          </p:cNvPr>
          <p:cNvSpPr>
            <a:spLocks noGrp="1"/>
          </p:cNvSpPr>
          <p:nvPr/>
        </p:nvSpPr>
        <p:spPr>
          <a:xfrm>
            <a:off x="6838950" y="5429250"/>
            <a:ext cx="3752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Each impression contains a candidate set of news articles, plus the user's earlier click history. Models use this context to predict which candidate items are most likely to be clicked.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6F4234-1B39-4DD7-9C3C-0CF13815FF4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Source: MIND official website, About section, accessed April 21, 2026.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033002-DEA0-8B51-2ED9-2B742472D5E6}"/>
              </a:ext>
            </a:extLst>
          </p:cNvPr>
          <p:cNvSpPr>
            <a:spLocks noGrp="1"/>
          </p:cNvSpPr>
          <p:nvPr/>
        </p:nvSpPr>
        <p:spPr>
          <a:xfrm>
            <a:off x="514350" y="645320"/>
            <a:ext cx="111633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EEA67B-587A-4723-4901-A83BA7D1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0A2D54-A139-78BF-846E-39C7D33BA93C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1</a:t>
            </a:r>
            <a:endParaRPr sz="1350" b="1" dirty="0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8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0054740A-BB1C-467E-B0E0-6DD866723F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8FE9C-45AD-4EC3-AD07-2DE972DFED63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>
                <a:solidFill>
                  <a:srgbClr val="4472C4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F8857-AED7-438B-9A95-EE13939704D9}"/>
              </a:ext>
            </a:extLst>
          </p:cNvPr>
          <p:cNvSpPr>
            <a:spLocks noGrp="1"/>
          </p:cNvSpPr>
          <p:nvPr/>
        </p:nvSpPr>
        <p:spPr>
          <a:xfrm>
            <a:off x="590550" y="743121"/>
            <a:ext cx="742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</a:rPr>
              <a:t>What Is MIND?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09C7C-FF06-4E9C-B2B3-636433CFEB82}"/>
              </a:ext>
            </a:extLst>
          </p:cNvPr>
          <p:cNvSpPr>
            <a:spLocks noGrp="1"/>
          </p:cNvSpPr>
          <p:nvPr/>
        </p:nvSpPr>
        <p:spPr>
          <a:xfrm>
            <a:off x="609600" y="1189832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MIND stands for Microsoft News Dataset and is designed for news recommendation research.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8CF8AF-8642-4970-BF4A-947665A646C5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95900" cy="1581150"/>
          </a:xfrm>
          <a:prstGeom prst="roundRect">
            <a:avLst>
              <a:gd name="adj" fmla="val 4819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0F986-F5F2-40FF-923C-D22047488B6B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OFFICIAL DESCRIPTION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A1C60C-8E5C-4CDE-BA03-E2D302E58A0D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953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The MIND website describes it as a large-scale English dataset for news recommendation research, collected from anonymized Microsoft News behavior logs and released to support benchmark-driven work in recommendation.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6C8E7D-28AE-42D4-9CD3-4E54A4BEE272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5295900" cy="2762250"/>
          </a:xfrm>
          <a:prstGeom prst="roundRect">
            <a:avLst>
              <a:gd name="adj" fmla="val 3540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599BB-C500-4A7A-8420-5C3EE03CCBD8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CORE DATA MODALITIES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8DCBA5-FFF0-46C3-BF0C-DC66AA34DD48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4953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News content: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title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abstract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body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category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entities</a:t>
            </a:r>
          </a:p>
          <a:p>
            <a:endParaRPr sz="1350" b="0" dirty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Behavior logs: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clicks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non-clicked impressions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user click history before each impression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266A9A-6802-4D90-A341-EA2F21E64CED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5391150" cy="1581150"/>
          </a:xfrm>
          <a:prstGeom prst="roundRect">
            <a:avLst>
              <a:gd name="adj" fmla="val 4082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7BB2F-E738-487A-AF28-34E65C97C4CB}"/>
              </a:ext>
            </a:extLst>
          </p:cNvPr>
          <p:cNvSpPr>
            <a:spLocks noGrp="1"/>
          </p:cNvSpPr>
          <p:nvPr/>
        </p:nvSpPr>
        <p:spPr>
          <a:xfrm>
            <a:off x="6362700" y="1809750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RESEARCH 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29FCF-E24F-451B-8C9D-5A3A91CDBE55}"/>
              </a:ext>
            </a:extLst>
          </p:cNvPr>
          <p:cNvSpPr>
            <a:spLocks noGrp="1"/>
          </p:cNvSpPr>
          <p:nvPr/>
        </p:nvSpPr>
        <p:spPr>
          <a:xfrm>
            <a:off x="6362700" y="2095500"/>
            <a:ext cx="5048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Because MIND includes both rich article text and interaction behavior, it supports a wide range of methods: content-based models, collaborative filtering, neural news recommenders, and two-stage recall-and-ranking systems.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B3AC92-136D-44C2-9621-F0950327465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Source: MIND official website, About section.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7AC87F-E450-E787-F16C-3FEE2EFD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EB5AF00-7A1D-F286-FE37-9054C44FD51E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81CE88F-554F-257F-1746-9E08F98478A6}"/>
              </a:ext>
            </a:extLst>
          </p:cNvPr>
          <p:cNvSpPr>
            <a:spLocks noGrp="1"/>
          </p:cNvSpPr>
          <p:nvPr/>
        </p:nvSpPr>
        <p:spPr>
          <a:xfrm>
            <a:off x="6191250" y="3486150"/>
            <a:ext cx="5391150" cy="2762249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7AAED2-2E07-0F64-F69E-7CD27300B055}"/>
              </a:ext>
            </a:extLst>
          </p:cNvPr>
          <p:cNvSpPr>
            <a:spLocks noGrp="1"/>
          </p:cNvSpPr>
          <p:nvPr/>
        </p:nvSpPr>
        <p:spPr>
          <a:xfrm>
            <a:off x="6587218" y="5900248"/>
            <a:ext cx="2299607" cy="11866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endParaRPr sz="750" b="0" dirty="0">
              <a:solidFill>
                <a:srgbClr val="6B728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4CDA681-CC84-88ED-F79E-7C7193FBC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833" y="3848100"/>
            <a:ext cx="4823983" cy="2163868"/>
          </a:xfrm>
          <a:prstGeom prst="rect">
            <a:avLst/>
          </a:prstGeom>
          <a:effectLst>
            <a:glow rad="363610">
              <a:schemeClr val="accent1"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385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054740A-BB1C-467E-B0E0-6DD866723F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07F050-FE35-4F1D-8490-157306387E31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>
                <a:solidFill>
                  <a:srgbClr val="4472C4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C0490-9EB5-41C0-93BC-5ED8599C5CA4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742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</a:rPr>
              <a:t>Dataset Scale And Versions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78135-50FD-4E96-B9D7-B53311CE7151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 dirty="0">
                <a:solidFill>
                  <a:srgbClr val="44546A"/>
                </a:solidFill>
              </a:rPr>
              <a:t>The website highlights both the full dataset and a smaller quick-start variant.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3BB3EB-10BC-4EFA-86BE-CDF81B43A711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52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CFBA52-E155-4DBB-9BC7-1434BAF74AB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52400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61B16-4195-4EB1-9DB6-F9326CB5358C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1219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160k+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60C0D-4133-4DDA-91B2-9CAE5FCE252D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news articles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89BC4C-F5CF-4BAE-A71B-66033A1F72F9}"/>
              </a:ext>
            </a:extLst>
          </p:cNvPr>
          <p:cNvSpPr>
            <a:spLocks noGrp="1"/>
          </p:cNvSpPr>
          <p:nvPr/>
        </p:nvSpPr>
        <p:spPr>
          <a:xfrm>
            <a:off x="2305050" y="1676400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D013E1-3C7B-4246-9D7E-0889FC659202}"/>
              </a:ext>
            </a:extLst>
          </p:cNvPr>
          <p:cNvSpPr>
            <a:spLocks noGrp="1"/>
          </p:cNvSpPr>
          <p:nvPr/>
        </p:nvSpPr>
        <p:spPr>
          <a:xfrm>
            <a:off x="2305050" y="1676400"/>
            <a:ext cx="16192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3AD2C9-E5B6-4768-B972-2B62500EE158}"/>
              </a:ext>
            </a:extLst>
          </p:cNvPr>
          <p:cNvSpPr>
            <a:spLocks noGrp="1"/>
          </p:cNvSpPr>
          <p:nvPr/>
        </p:nvSpPr>
        <p:spPr>
          <a:xfrm>
            <a:off x="2457450" y="184785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15M+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51BE19-2450-4F45-91C9-EA980D750E85}"/>
              </a:ext>
            </a:extLst>
          </p:cNvPr>
          <p:cNvSpPr>
            <a:spLocks noGrp="1"/>
          </p:cNvSpPr>
          <p:nvPr/>
        </p:nvSpPr>
        <p:spPr>
          <a:xfrm>
            <a:off x="2457450" y="222885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impression logs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9043D9B-D314-4F12-B789-D0B1D02BFBA9}"/>
              </a:ext>
            </a:extLst>
          </p:cNvPr>
          <p:cNvSpPr>
            <a:spLocks noGrp="1"/>
          </p:cNvSpPr>
          <p:nvPr/>
        </p:nvSpPr>
        <p:spPr>
          <a:xfrm>
            <a:off x="4095750" y="1676400"/>
            <a:ext cx="1143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5F7C11-0D38-4F78-A995-6A0B32E6E9EF}"/>
              </a:ext>
            </a:extLst>
          </p:cNvPr>
          <p:cNvSpPr>
            <a:spLocks noGrp="1"/>
          </p:cNvSpPr>
          <p:nvPr/>
        </p:nvSpPr>
        <p:spPr>
          <a:xfrm>
            <a:off x="4095750" y="1676400"/>
            <a:ext cx="114300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DF401-FE42-4DE5-BC71-6242C7CDE2C7}"/>
              </a:ext>
            </a:extLst>
          </p:cNvPr>
          <p:cNvSpPr>
            <a:spLocks noGrp="1"/>
          </p:cNvSpPr>
          <p:nvPr/>
        </p:nvSpPr>
        <p:spPr>
          <a:xfrm>
            <a:off x="4248150" y="1847850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DB707-DC57-472F-9DE5-46900D68A120}"/>
              </a:ext>
            </a:extLst>
          </p:cNvPr>
          <p:cNvSpPr>
            <a:spLocks noGrp="1"/>
          </p:cNvSpPr>
          <p:nvPr/>
        </p:nvSpPr>
        <p:spPr>
          <a:xfrm>
            <a:off x="4248150" y="222885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users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E76E3E-46D0-4494-B7F6-54D922E81465}"/>
              </a:ext>
            </a:extLst>
          </p:cNvPr>
          <p:cNvSpPr>
            <a:spLocks noGrp="1"/>
          </p:cNvSpPr>
          <p:nvPr/>
        </p:nvSpPr>
        <p:spPr>
          <a:xfrm>
            <a:off x="5410200" y="1676400"/>
            <a:ext cx="16954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0572ED-39CA-4969-972A-4307A74612C6}"/>
              </a:ext>
            </a:extLst>
          </p:cNvPr>
          <p:cNvSpPr>
            <a:spLocks noGrp="1"/>
          </p:cNvSpPr>
          <p:nvPr/>
        </p:nvSpPr>
        <p:spPr>
          <a:xfrm>
            <a:off x="5410200" y="1676400"/>
            <a:ext cx="16954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5006B0-9177-46E1-A605-743E962FF7B7}"/>
              </a:ext>
            </a:extLst>
          </p:cNvPr>
          <p:cNvSpPr>
            <a:spLocks noGrp="1"/>
          </p:cNvSpPr>
          <p:nvPr/>
        </p:nvSpPr>
        <p:spPr>
          <a:xfrm>
            <a:off x="5562600" y="1847850"/>
            <a:ext cx="1390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50k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4A49C-557C-4A9C-8728-D3766ADFFA59}"/>
              </a:ext>
            </a:extLst>
          </p:cNvPr>
          <p:cNvSpPr>
            <a:spLocks noGrp="1"/>
          </p:cNvSpPr>
          <p:nvPr/>
        </p:nvSpPr>
        <p:spPr>
          <a:xfrm>
            <a:off x="5562600" y="22288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users in MIND-small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C5B98F-0AAB-4872-A655-4B8461B9A141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3505200" cy="1657350"/>
          </a:xfrm>
          <a:prstGeom prst="roundRect">
            <a:avLst>
              <a:gd name="adj" fmla="val 4598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C38332-BDF3-40FE-8DE9-696EEC895DD2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MIND-LARGE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FC8E68-1B8B-4EF9-9D3B-0A7E80C2923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31623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full dataset is intended for benchmark-scale training, validation, and leaderboard submission. It is the version typically used when comparing against published state-of-the-art systems.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8818320-9854-47E2-B20F-028F7D9B0B04}"/>
              </a:ext>
            </a:extLst>
          </p:cNvPr>
          <p:cNvSpPr>
            <a:spLocks noGrp="1"/>
          </p:cNvSpPr>
          <p:nvPr/>
        </p:nvSpPr>
        <p:spPr>
          <a:xfrm>
            <a:off x="4343400" y="3086100"/>
            <a:ext cx="3505200" cy="1657350"/>
          </a:xfrm>
          <a:prstGeom prst="roundRect">
            <a:avLst>
              <a:gd name="adj" fmla="val 4598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F9C727-3140-4C9C-8CB4-1ABB8F48F12E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MIND-SMALL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6E31A8-5BED-45A2-A2F2-6ADA20308EB3}"/>
              </a:ext>
            </a:extLst>
          </p:cNvPr>
          <p:cNvSpPr>
            <a:spLocks noGrp="1"/>
          </p:cNvSpPr>
          <p:nvPr/>
        </p:nvSpPr>
        <p:spPr>
          <a:xfrm>
            <a:off x="4514850" y="3505200"/>
            <a:ext cx="31623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website also provides MIND-small, created by randomly sampling 50,000 users and their behavior logs. This version is especially useful for quick experiments, tutorials, and reproducible classroom projects.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9D7FD29-0895-48FA-BD02-A617E58461B1}"/>
              </a:ext>
            </a:extLst>
          </p:cNvPr>
          <p:cNvSpPr>
            <a:spLocks noGrp="1"/>
          </p:cNvSpPr>
          <p:nvPr/>
        </p:nvSpPr>
        <p:spPr>
          <a:xfrm>
            <a:off x="8077200" y="3086100"/>
            <a:ext cx="3505200" cy="1657350"/>
          </a:xfrm>
          <a:prstGeom prst="roundRect">
            <a:avLst>
              <a:gd name="adj" fmla="val 4598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4E0C71-6BE6-424E-9AC0-A1410046B0EA}"/>
              </a:ext>
            </a:extLst>
          </p:cNvPr>
          <p:cNvSpPr>
            <a:spLocks noGrp="1"/>
          </p:cNvSpPr>
          <p:nvPr/>
        </p:nvSpPr>
        <p:spPr>
          <a:xfrm>
            <a:off x="8248650" y="32194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DOWNLOAD SPLITS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47F5E7-A484-4BEE-AC6B-8730CC8782B1}"/>
              </a:ext>
            </a:extLst>
          </p:cNvPr>
          <p:cNvSpPr>
            <a:spLocks noGrp="1"/>
          </p:cNvSpPr>
          <p:nvPr/>
        </p:nvSpPr>
        <p:spPr>
          <a:xfrm>
            <a:off x="8248650" y="3505200"/>
            <a:ext cx="31623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site provides training, validation, and test sets. It also links to Microsoft Azure Open Datasets for easier cloud access to the large-scale version.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ED0D6D-6A02-4B70-A900-8E1EC43386BA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10972800" cy="13525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8BED5E-7840-4FB8-AC13-B47836092867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1062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PRACTICAL TAKEAWAY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C3E0C1-62A9-48B1-BBF0-97DCF97BD06E}"/>
              </a:ext>
            </a:extLst>
          </p:cNvPr>
          <p:cNvSpPr>
            <a:spLocks noGrp="1"/>
          </p:cNvSpPr>
          <p:nvPr/>
        </p:nvSpPr>
        <p:spPr>
          <a:xfrm>
            <a:off x="781050" y="5486400"/>
            <a:ext cx="1062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For learning and baseline building, MIND-small is usually the easiest place to start. For serious model comparison and leaderboard-style benchmarking, the full MIND release is the more representative choice.</a:t>
            </a:r>
            <a:endParaRPr lang="en-US" sz="1350" dirty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endParaRPr lang="en-US" sz="1350" b="0" dirty="0">
              <a:solidFill>
                <a:srgbClr val="44546A"/>
              </a:solidFill>
            </a:endParaRPr>
          </a:p>
          <a:p>
            <a:pPr>
              <a:defRPr sz="1350" b="0">
                <a:solidFill>
                  <a:srgbClr val="44546A"/>
                </a:solidFill>
              </a:defRPr>
            </a:pPr>
            <a:r>
              <a:rPr lang="en-US" sz="1350" dirty="0">
                <a:solidFill>
                  <a:srgbClr val="44546A"/>
                </a:solidFill>
              </a:rPr>
              <a:t>We use the MIND-small dataset due to limited computational resources.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endParaRPr sz="1350" b="0" dirty="0">
              <a:solidFill>
                <a:srgbClr val="44546A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4C5790-EA45-4F2B-96DF-809279E757A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Source: MIND official website, Download section.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FD79FE-395A-48F7-AB9D-917EDC1A0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6FB8601-DB5C-9AF1-C484-BBE9E5100692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054740A-BB1C-467E-B0E0-6DD866723F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E38DFA-B560-410B-BDD7-1E544BE860B8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>
                <a:solidFill>
                  <a:srgbClr val="4472C4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09A2E-A08F-48FE-93C0-EBFFF56BF97F}"/>
              </a:ext>
            </a:extLst>
          </p:cNvPr>
          <p:cNvSpPr>
            <a:spLocks noGrp="1"/>
          </p:cNvSpPr>
          <p:nvPr/>
        </p:nvSpPr>
        <p:spPr>
          <a:xfrm>
            <a:off x="590550" y="721520"/>
            <a:ext cx="742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Main Files And Data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5B613-310C-4A29-8D4A-E2EAAD9828C1}"/>
              </a:ext>
            </a:extLst>
          </p:cNvPr>
          <p:cNvSpPr>
            <a:spLocks noGrp="1"/>
          </p:cNvSpPr>
          <p:nvPr/>
        </p:nvSpPr>
        <p:spPr>
          <a:xfrm>
            <a:off x="590550" y="1240927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 dirty="0">
                <a:solidFill>
                  <a:srgbClr val="44546A"/>
                </a:solidFill>
              </a:rPr>
              <a:t>MIND combines article metadata with user behavior logs.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A95C77-209D-4875-A046-7C50394F03E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143500" cy="2266950"/>
          </a:xfrm>
          <a:prstGeom prst="roundRect">
            <a:avLst>
              <a:gd name="adj" fmla="val 3361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33DE9-FF4F-4F97-AB86-56798DC91820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80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news.tsv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1C3ED-1827-4BFB-932B-D37628FC40C5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80060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One row per news article.</a:t>
            </a:r>
          </a:p>
          <a:p>
            <a:endParaRPr sz="1350" b="0" dirty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Common fields: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title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abstract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body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category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 dirty="0">
                <a:solidFill>
                  <a:srgbClr val="44546A"/>
                </a:solidFill>
              </a:rPr>
              <a:t>• entities</a:t>
            </a:r>
          </a:p>
          <a:p>
            <a:endParaRPr sz="1350" b="0" dirty="0">
              <a:solidFill>
                <a:srgbClr val="44546A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E7D420-12F9-4130-81B5-447C7B65B947}"/>
              </a:ext>
            </a:extLst>
          </p:cNvPr>
          <p:cNvSpPr>
            <a:spLocks noGrp="1"/>
          </p:cNvSpPr>
          <p:nvPr/>
        </p:nvSpPr>
        <p:spPr>
          <a:xfrm>
            <a:off x="6057900" y="1758724"/>
            <a:ext cx="5524500" cy="2266950"/>
          </a:xfrm>
          <a:prstGeom prst="roundRect">
            <a:avLst>
              <a:gd name="adj" fmla="val 3361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16437-B92D-42B0-AB1B-B53289050F04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518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behaviors.tsv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53628-D82B-45D5-AE74-D191376C506D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518160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One row per impression event.</a:t>
            </a:r>
          </a:p>
          <a:p>
            <a:endParaRPr sz="1350" b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Contains: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• user ID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• timestamp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• clicked history before the impression</a:t>
            </a: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• candidate impressions with click / non-click labels</a:t>
            </a:r>
          </a:p>
          <a:p>
            <a:endParaRPr sz="1350" b="0">
              <a:solidFill>
                <a:srgbClr val="44546A"/>
              </a:solidFill>
            </a:endParaRPr>
          </a:p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This file supports interaction modeling and ranking evaluation.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28A282-E491-4FE3-8671-91517CFDBEEE}"/>
              </a:ext>
            </a:extLst>
          </p:cNvPr>
          <p:cNvSpPr>
            <a:spLocks noGrp="1"/>
          </p:cNvSpPr>
          <p:nvPr/>
        </p:nvSpPr>
        <p:spPr>
          <a:xfrm>
            <a:off x="609600" y="4580164"/>
            <a:ext cx="5143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6CEB3E-CD7B-4D27-9778-2099A68A2562}"/>
              </a:ext>
            </a:extLst>
          </p:cNvPr>
          <p:cNvSpPr>
            <a:spLocks noGrp="1"/>
          </p:cNvSpPr>
          <p:nvPr/>
        </p:nvSpPr>
        <p:spPr>
          <a:xfrm>
            <a:off x="781050" y="4713514"/>
            <a:ext cx="480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HOW THEY WORK TOGETHER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2CE856-0D07-45D4-A774-77221B7E00DD}"/>
              </a:ext>
            </a:extLst>
          </p:cNvPr>
          <p:cNvSpPr>
            <a:spLocks noGrp="1"/>
          </p:cNvSpPr>
          <p:nvPr/>
        </p:nvSpPr>
        <p:spPr>
          <a:xfrm>
            <a:off x="781050" y="4999264"/>
            <a:ext cx="4800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Most pipelines merge article features from news.tsv with candidate rows expanded from behaviors.tsv. That creates the candidate-level training table used by recall and ranking models.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20125F-792C-4320-9320-8B3557AF607C}"/>
              </a:ext>
            </a:extLst>
          </p:cNvPr>
          <p:cNvSpPr>
            <a:spLocks noGrp="1"/>
          </p:cNvSpPr>
          <p:nvPr/>
        </p:nvSpPr>
        <p:spPr>
          <a:xfrm>
            <a:off x="6057900" y="4248150"/>
            <a:ext cx="5524500" cy="1371600"/>
          </a:xfrm>
          <a:prstGeom prst="roundRect">
            <a:avLst>
              <a:gd name="adj" fmla="val 5556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E9F42-173C-4979-97BD-456784DF30A2}"/>
              </a:ext>
            </a:extLst>
          </p:cNvPr>
          <p:cNvSpPr>
            <a:spLocks noGrp="1"/>
          </p:cNvSpPr>
          <p:nvPr/>
        </p:nvSpPr>
        <p:spPr>
          <a:xfrm>
            <a:off x="6229350" y="4381500"/>
            <a:ext cx="518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WHY THIS IS USEFUL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6E001-4767-442F-A408-8ACB329B9944}"/>
              </a:ext>
            </a:extLst>
          </p:cNvPr>
          <p:cNvSpPr>
            <a:spLocks noGrp="1"/>
          </p:cNvSpPr>
          <p:nvPr/>
        </p:nvSpPr>
        <p:spPr>
          <a:xfrm>
            <a:off x="6229350" y="4667250"/>
            <a:ext cx="5181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sz="1350" b="0">
                <a:solidFill>
                  <a:srgbClr val="44546A"/>
                </a:solidFill>
              </a:rPr>
              <a:t>This structure is flexible: text-based models can focus on article content, collaborative methods can focus on behavior, and supervised CTR/ranking models can combine both.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2E9E8-0D48-4FA5-863D-146D3B513E7F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Source: MIND official website, About section and linked dataset description reference.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7DFE4-68F6-D2FE-B9CC-643D4EEACE8F}"/>
              </a:ext>
            </a:extLst>
          </p:cNvPr>
          <p:cNvSpPr txBox="1"/>
          <p:nvPr/>
        </p:nvSpPr>
        <p:spPr>
          <a:xfrm>
            <a:off x="590550" y="409234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44546A"/>
                </a:solidFill>
              </a:defRPr>
            </a:pPr>
            <a:r>
              <a:rPr lang="en-US" sz="1200" b="0" dirty="0">
                <a:solidFill>
                  <a:srgbClr val="44546A"/>
                </a:solidFill>
              </a:rPr>
              <a:t>This file supports content representation and news-side feature engineering.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413A2F-74AE-46D2-F653-C7564AA7F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FCEC65C-DAC6-5605-D116-AF93735E03F2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63D73-A38E-4697-A59F-C40461DED19F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5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677D7B-0CF0-491D-BB75-DF6DB677867B}"/>
              </a:ext>
            </a:extLst>
          </p:cNvPr>
          <p:cNvSpPr>
            <a:spLocks noGrp="1"/>
          </p:cNvSpPr>
          <p:nvPr/>
        </p:nvSpPr>
        <p:spPr>
          <a:xfrm>
            <a:off x="590550" y="722313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Repository Map And Evaluation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1F2C9-C210-40DF-916B-62161B97B37A}"/>
              </a:ext>
            </a:extLst>
          </p:cNvPr>
          <p:cNvSpPr>
            <a:spLocks noGrp="1"/>
          </p:cNvSpPr>
          <p:nvPr/>
        </p:nvSpPr>
        <p:spPr>
          <a:xfrm>
            <a:off x="609600" y="1198563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Every notebook and saved artifact is represented in the reporting pipeline.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F313A2-1BCE-48F8-863B-E81D8D2F8E2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857500" cy="2457450"/>
          </a:xfrm>
          <a:prstGeom prst="roundRect">
            <a:avLst>
              <a:gd name="adj" fmla="val 3101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986B5F-0D0C-4F98-A1BF-E400C4C6EA08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NOTEBOOKS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9B201-6DD7-46AF-A177-37E9321B458A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51460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round1_descriptive_stats.ipynb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popularity_baseline.ipynb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tfidf.ipynb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itemcf.ipynb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lr_ctr.ipynb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lightgbm_ctr.ipynb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9A4D5E-EFEA-4FD6-9FAF-91A79B329077}"/>
              </a:ext>
            </a:extLst>
          </p:cNvPr>
          <p:cNvSpPr>
            <a:spLocks noGrp="1"/>
          </p:cNvSpPr>
          <p:nvPr/>
        </p:nvSpPr>
        <p:spPr>
          <a:xfrm>
            <a:off x="3676650" y="1676400"/>
            <a:ext cx="2457450" cy="2457450"/>
          </a:xfrm>
          <a:prstGeom prst="roundRect">
            <a:avLst>
              <a:gd name="adj" fmla="val 3101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F7EC7-B376-43FB-9405-E613B7AC909D}"/>
              </a:ext>
            </a:extLst>
          </p:cNvPr>
          <p:cNvSpPr>
            <a:spLocks noGrp="1"/>
          </p:cNvSpPr>
          <p:nvPr/>
        </p:nvSpPr>
        <p:spPr>
          <a:xfrm>
            <a:off x="3848100" y="18097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OUTPUTS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9009C5-A068-4678-AF90-EBEF77EFFFFF}"/>
              </a:ext>
            </a:extLst>
          </p:cNvPr>
          <p:cNvSpPr>
            <a:spLocks noGrp="1"/>
          </p:cNvSpPr>
          <p:nvPr/>
        </p:nvSpPr>
        <p:spPr>
          <a:xfrm>
            <a:off x="3848100" y="2095500"/>
            <a:ext cx="21145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round1_descriptive_stats_output/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popularity_baseline_output/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tfidf_output/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itemcf_output/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lr_ctr_output/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lightgbm_ctr_output/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2ACA07-6832-438C-9DA9-513FB58DE7DF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5257800" cy="2457450"/>
          </a:xfrm>
          <a:prstGeom prst="roundRect">
            <a:avLst>
              <a:gd name="adj" fmla="val 3101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66FBA2-825F-40E2-BCBD-17DD2EFE8A58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491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COMMON PROTOCOL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7BA2DD-17B8-4102-B3BA-AFED01107041}"/>
              </a:ext>
            </a:extLst>
          </p:cNvPr>
          <p:cNvSpPr>
            <a:spLocks noGrp="1"/>
          </p:cNvSpPr>
          <p:nvPr/>
        </p:nvSpPr>
        <p:spPr>
          <a:xfrm>
            <a:off x="6496050" y="2095500"/>
            <a:ext cx="491490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1. Expand impressions to candidate-level rows.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2. Score each candidate within an impression.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3. Export prediction.txt or metrics files.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4. Evaluate AUC, MRR, nDCG@5, nDCG@10 on validation.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E8A3626-AFA3-4DB7-8805-6D8284B68A84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143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B9F539-7A0A-4DE8-B239-A42844D1B804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480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WHY THIS MATTERS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6D952-8821-4CA8-A202-CAA373919206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48006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lang="en-US" sz="1275" b="0" dirty="0">
                <a:solidFill>
                  <a:srgbClr val="44546A"/>
                </a:solidFill>
              </a:rPr>
              <a:t>We</a:t>
            </a:r>
            <a:r>
              <a:rPr lang="zh-CN" altLang="en-US" sz="1275" b="0" dirty="0">
                <a:solidFill>
                  <a:srgbClr val="44546A"/>
                </a:solidFill>
              </a:rPr>
              <a:t> </a:t>
            </a:r>
            <a:r>
              <a:rPr sz="1275" b="0" dirty="0">
                <a:solidFill>
                  <a:srgbClr val="44546A"/>
                </a:solidFill>
              </a:rPr>
              <a:t>moves from simple heuristics to stronger CTR models while keeping the same evaluation target. That makes the final comparison fair and easy to explain in one deck.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992758D-3B72-4C7D-BBEA-A26FD95F7D9D}"/>
              </a:ext>
            </a:extLst>
          </p:cNvPr>
          <p:cNvSpPr>
            <a:spLocks noGrp="1"/>
          </p:cNvSpPr>
          <p:nvPr/>
        </p:nvSpPr>
        <p:spPr>
          <a:xfrm>
            <a:off x="5924550" y="4457700"/>
            <a:ext cx="56578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79A4D2-5C78-4B8D-B4C0-B423A4F1A4AC}"/>
              </a:ext>
            </a:extLst>
          </p:cNvPr>
          <p:cNvSpPr>
            <a:spLocks noGrp="1"/>
          </p:cNvSpPr>
          <p:nvPr/>
        </p:nvSpPr>
        <p:spPr>
          <a:xfrm>
            <a:off x="6096000" y="4591050"/>
            <a:ext cx="531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PROJECT HEADLINE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7B6A21-72DC-457E-BA09-F80743A42DDC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53149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lang="en-US" sz="1275" b="0" dirty="0">
                <a:solidFill>
                  <a:srgbClr val="44546A"/>
                </a:solidFill>
              </a:rPr>
              <a:t>We</a:t>
            </a:r>
            <a:r>
              <a:rPr lang="zh-CN" altLang="en-US" sz="1275" b="0" dirty="0">
                <a:solidFill>
                  <a:srgbClr val="44546A"/>
                </a:solidFill>
              </a:rPr>
              <a:t> </a:t>
            </a:r>
            <a:r>
              <a:rPr sz="1275" b="0" dirty="0">
                <a:solidFill>
                  <a:srgbClr val="44546A"/>
                </a:solidFill>
              </a:rPr>
              <a:t>mixes two baseline families: recall-style methods that generate or pre-score candidates from popularity/content/collaborative </a:t>
            </a:r>
            <a:r>
              <a:rPr lang="en-US" sz="1275" b="0" dirty="0">
                <a:solidFill>
                  <a:srgbClr val="44546A"/>
                </a:solidFill>
              </a:rPr>
              <a:t>signals and</a:t>
            </a:r>
            <a:r>
              <a:rPr sz="1275" b="0" dirty="0">
                <a:solidFill>
                  <a:srgbClr val="44546A"/>
                </a:solidFill>
              </a:rPr>
              <a:t> ranking-style methods that learn click-oriented ordering over candidate-level rows.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6D8D71-80A1-13C2-AC60-CB18D4CF3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4D6004C-BAA3-0D8B-6140-D38816263210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80A76D-1EE9-45EE-92CC-514F37CABFD1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6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FFC83-D4D5-4F82-A8FB-4D3840B4CCBC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Recall vs Ranking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A63E8-EAA6-426E-81B2-89CEDC30E0A3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For a full recommender system, these two stages play different roles and usually need separate baselines.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B1C5D2D-D99B-4E6B-9D88-D80013B6A05C}"/>
              </a:ext>
            </a:extLst>
          </p:cNvPr>
          <p:cNvSpPr>
            <a:spLocks noGrp="1"/>
          </p:cNvSpPr>
          <p:nvPr/>
        </p:nvSpPr>
        <p:spPr>
          <a:xfrm>
            <a:off x="609600" y="2571766"/>
            <a:ext cx="5105400" cy="276225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BF1F8-F80A-4E65-BDB2-ED0E5C8085D9}"/>
              </a:ext>
            </a:extLst>
          </p:cNvPr>
          <p:cNvSpPr>
            <a:spLocks noGrp="1"/>
          </p:cNvSpPr>
          <p:nvPr/>
        </p:nvSpPr>
        <p:spPr>
          <a:xfrm>
            <a:off x="781050" y="2705116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RECALL / RETRIEVAL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6178E-CCE2-4D15-AD99-599F74353A9E}"/>
              </a:ext>
            </a:extLst>
          </p:cNvPr>
          <p:cNvSpPr>
            <a:spLocks noGrp="1"/>
          </p:cNvSpPr>
          <p:nvPr/>
        </p:nvSpPr>
        <p:spPr>
          <a:xfrm>
            <a:off x="781050" y="2990866"/>
            <a:ext cx="476250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Goal: quickly surface a smaller candidate pool from the large corpus.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Typical signals: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global popularity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content similarity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collaborative filtering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In this repo: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Popularity, TF-IDF, and ItemCF fit this family best.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65B1C6-CB93-4A10-976E-CDD0C6AE988A}"/>
              </a:ext>
            </a:extLst>
          </p:cNvPr>
          <p:cNvSpPr>
            <a:spLocks noGrp="1"/>
          </p:cNvSpPr>
          <p:nvPr/>
        </p:nvSpPr>
        <p:spPr>
          <a:xfrm>
            <a:off x="5943600" y="2571766"/>
            <a:ext cx="5638800" cy="2762250"/>
          </a:xfrm>
          <a:prstGeom prst="roundRect">
            <a:avLst>
              <a:gd name="adj" fmla="val 2759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9A48D-BA41-4C15-849B-EA4A9AEA3B2C}"/>
              </a:ext>
            </a:extLst>
          </p:cNvPr>
          <p:cNvSpPr>
            <a:spLocks noGrp="1"/>
          </p:cNvSpPr>
          <p:nvPr/>
        </p:nvSpPr>
        <p:spPr>
          <a:xfrm>
            <a:off x="6115050" y="2705116"/>
            <a:ext cx="529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RANKING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1EA6A-9251-4F88-BC7A-AD6E0422557A}"/>
              </a:ext>
            </a:extLst>
          </p:cNvPr>
          <p:cNvSpPr>
            <a:spLocks noGrp="1"/>
          </p:cNvSpPr>
          <p:nvPr/>
        </p:nvSpPr>
        <p:spPr>
          <a:xfrm>
            <a:off x="6115050" y="2990866"/>
            <a:ext cx="529590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Goal: reorder an existing candidate set so clicked items move above non-clicked items.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Typical signals: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candidate position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user-history match features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metadata features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supervised CTR labels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In this repo: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Logistic Regression CTR and LightGBM CTR are ranking baselines.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578DD8-F8DD-9368-7617-5E6445402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26D2D37-CA18-A333-AADE-C2DFCECB7084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5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6CCF8-18BC-4BB5-9943-76C427B26F19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0E347-2C3B-43A6-AEDA-13A391FAD8E6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7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3390E-2054-47DD-AE45-ABFF64BCE955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</a:rPr>
              <a:t>Dataset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EB143-55E7-4FE7-86AD-ED156C96FCCF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train/validation split is stable, sparse, and large enough for meaningful baseline comparison.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73B3FB-6D4D-4285-811E-52A4A2D6ED23}"/>
              </a:ext>
            </a:extLst>
          </p:cNvPr>
          <p:cNvSpPr>
            <a:spLocks noGrp="1"/>
          </p:cNvSpPr>
          <p:nvPr/>
        </p:nvSpPr>
        <p:spPr>
          <a:xfrm>
            <a:off x="609600" y="2016827"/>
            <a:ext cx="1619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088E23-7FC6-42B8-8F0D-7A9F128B3DC2}"/>
              </a:ext>
            </a:extLst>
          </p:cNvPr>
          <p:cNvSpPr>
            <a:spLocks noGrp="1"/>
          </p:cNvSpPr>
          <p:nvPr/>
        </p:nvSpPr>
        <p:spPr>
          <a:xfrm>
            <a:off x="609600" y="2016827"/>
            <a:ext cx="16192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ADF55E-173B-4CAA-84CA-BED0828085E8}"/>
              </a:ext>
            </a:extLst>
          </p:cNvPr>
          <p:cNvSpPr>
            <a:spLocks noGrp="1"/>
          </p:cNvSpPr>
          <p:nvPr/>
        </p:nvSpPr>
        <p:spPr>
          <a:xfrm>
            <a:off x="781050" y="2226377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5.84M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00EB7A-6D84-41E6-B523-AA05135BF2B5}"/>
              </a:ext>
            </a:extLst>
          </p:cNvPr>
          <p:cNvSpPr>
            <a:spLocks noGrp="1"/>
          </p:cNvSpPr>
          <p:nvPr/>
        </p:nvSpPr>
        <p:spPr>
          <a:xfrm>
            <a:off x="781050" y="2626427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train candidates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89A406-C1EF-4386-9C92-39497D41B93F}"/>
              </a:ext>
            </a:extLst>
          </p:cNvPr>
          <p:cNvSpPr>
            <a:spLocks noGrp="1"/>
          </p:cNvSpPr>
          <p:nvPr/>
        </p:nvSpPr>
        <p:spPr>
          <a:xfrm>
            <a:off x="2362200" y="2016827"/>
            <a:ext cx="1619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D891A4-80D1-4A81-956C-4E81FE0BD053}"/>
              </a:ext>
            </a:extLst>
          </p:cNvPr>
          <p:cNvSpPr>
            <a:spLocks noGrp="1"/>
          </p:cNvSpPr>
          <p:nvPr/>
        </p:nvSpPr>
        <p:spPr>
          <a:xfrm>
            <a:off x="2362200" y="2016827"/>
            <a:ext cx="16192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6B595-0429-4781-AEF0-8079B3D62988}"/>
              </a:ext>
            </a:extLst>
          </p:cNvPr>
          <p:cNvSpPr>
            <a:spLocks noGrp="1"/>
          </p:cNvSpPr>
          <p:nvPr/>
        </p:nvSpPr>
        <p:spPr>
          <a:xfrm>
            <a:off x="2533650" y="2226377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2.74M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42B68-1EC6-464F-9966-75168BFD28EF}"/>
              </a:ext>
            </a:extLst>
          </p:cNvPr>
          <p:cNvSpPr>
            <a:spLocks noGrp="1"/>
          </p:cNvSpPr>
          <p:nvPr/>
        </p:nvSpPr>
        <p:spPr>
          <a:xfrm>
            <a:off x="2533650" y="2626427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valid candidates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A088538-EC9D-42D0-A1C7-E30E07BCB5B1}"/>
              </a:ext>
            </a:extLst>
          </p:cNvPr>
          <p:cNvSpPr>
            <a:spLocks noGrp="1"/>
          </p:cNvSpPr>
          <p:nvPr/>
        </p:nvSpPr>
        <p:spPr>
          <a:xfrm>
            <a:off x="4114800" y="2016827"/>
            <a:ext cx="1981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980B98-8E80-4B2A-BFD4-A1CD5E384D30}"/>
              </a:ext>
            </a:extLst>
          </p:cNvPr>
          <p:cNvSpPr>
            <a:spLocks noGrp="1"/>
          </p:cNvSpPr>
          <p:nvPr/>
        </p:nvSpPr>
        <p:spPr>
          <a:xfrm>
            <a:off x="4114800" y="2016827"/>
            <a:ext cx="198120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5A088-7571-4B77-B7BD-84CA37D1D147}"/>
              </a:ext>
            </a:extLst>
          </p:cNvPr>
          <p:cNvSpPr>
            <a:spLocks noGrp="1"/>
          </p:cNvSpPr>
          <p:nvPr/>
        </p:nvSpPr>
        <p:spPr>
          <a:xfrm>
            <a:off x="4286250" y="2226377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37.23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2CBE1-8D58-488B-BF52-1591376CF7FC}"/>
              </a:ext>
            </a:extLst>
          </p:cNvPr>
          <p:cNvSpPr>
            <a:spLocks noGrp="1"/>
          </p:cNvSpPr>
          <p:nvPr/>
        </p:nvSpPr>
        <p:spPr>
          <a:xfrm>
            <a:off x="4286250" y="2626427"/>
            <a:ext cx="163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avg candidates/train impression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02DEFA0-CB3E-441B-86F8-54F71F5899AE}"/>
              </a:ext>
            </a:extLst>
          </p:cNvPr>
          <p:cNvSpPr>
            <a:spLocks noGrp="1"/>
          </p:cNvSpPr>
          <p:nvPr/>
        </p:nvSpPr>
        <p:spPr>
          <a:xfrm>
            <a:off x="6229350" y="2016827"/>
            <a:ext cx="1619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87764-B4DC-4E6C-828C-E94CE98C1BBE}"/>
              </a:ext>
            </a:extLst>
          </p:cNvPr>
          <p:cNvSpPr>
            <a:spLocks noGrp="1"/>
          </p:cNvSpPr>
          <p:nvPr/>
        </p:nvSpPr>
        <p:spPr>
          <a:xfrm>
            <a:off x="6229350" y="2016827"/>
            <a:ext cx="16192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7B65D0-A376-465C-9FC5-05F3F1EA3E45}"/>
              </a:ext>
            </a:extLst>
          </p:cNvPr>
          <p:cNvSpPr>
            <a:spLocks noGrp="1"/>
          </p:cNvSpPr>
          <p:nvPr/>
        </p:nvSpPr>
        <p:spPr>
          <a:xfrm>
            <a:off x="6400800" y="2226377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4.06%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56D002-EC69-4B2D-BD27-FA74E04C2A39}"/>
              </a:ext>
            </a:extLst>
          </p:cNvPr>
          <p:cNvSpPr>
            <a:spLocks noGrp="1"/>
          </p:cNvSpPr>
          <p:nvPr/>
        </p:nvSpPr>
        <p:spPr>
          <a:xfrm>
            <a:off x="6400800" y="2626427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validation CTR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DBF538-1543-4DEB-8D37-C13E5589B8BB}"/>
              </a:ext>
            </a:extLst>
          </p:cNvPr>
          <p:cNvSpPr>
            <a:spLocks noGrp="1"/>
          </p:cNvSpPr>
          <p:nvPr/>
        </p:nvSpPr>
        <p:spPr>
          <a:xfrm>
            <a:off x="8343900" y="190381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Key descriptive takeaways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D53393-7863-4811-89B2-DAF3A1D2E475}"/>
              </a:ext>
            </a:extLst>
          </p:cNvPr>
          <p:cNvSpPr>
            <a:spLocks noGrp="1"/>
          </p:cNvSpPr>
          <p:nvPr/>
        </p:nvSpPr>
        <p:spPr>
          <a:xfrm>
            <a:off x="8343900" y="2187972"/>
            <a:ext cx="3143250" cy="116482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• Train and validation candidate density are almost identical.</a:t>
            </a:r>
          </a:p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• CTR stays near 4%, confirming a sparse ranking task.</a:t>
            </a:r>
          </a:p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• History length is long-tailed across users.</a:t>
            </a:r>
          </a:p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• News and sports dominate the category mix.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2CEA31D-18F1-426F-9F6A-22EF3DAEF603}"/>
              </a:ext>
            </a:extLst>
          </p:cNvPr>
          <p:cNvSpPr>
            <a:spLocks noGrp="1"/>
          </p:cNvSpPr>
          <p:nvPr/>
        </p:nvSpPr>
        <p:spPr>
          <a:xfrm>
            <a:off x="590550" y="4069465"/>
            <a:ext cx="2590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4203873"/>
            <a:ext cx="2438400" cy="108373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52BE4AA-40ED-4CE5-90EE-517E19D86931}"/>
              </a:ext>
            </a:extLst>
          </p:cNvPr>
          <p:cNvSpPr>
            <a:spLocks noGrp="1"/>
          </p:cNvSpPr>
          <p:nvPr/>
        </p:nvSpPr>
        <p:spPr>
          <a:xfrm>
            <a:off x="704850" y="540296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Candidates per impression: train vs valid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805A2B1-09A0-45FA-848D-C78970A5F6C9}"/>
              </a:ext>
            </a:extLst>
          </p:cNvPr>
          <p:cNvSpPr>
            <a:spLocks noGrp="1"/>
          </p:cNvSpPr>
          <p:nvPr/>
        </p:nvSpPr>
        <p:spPr>
          <a:xfrm>
            <a:off x="3333750" y="4069465"/>
            <a:ext cx="2590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09950" y="4203873"/>
            <a:ext cx="2438400" cy="108373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91AFCE7-0450-41BC-9FA7-9D1797BFE262}"/>
              </a:ext>
            </a:extLst>
          </p:cNvPr>
          <p:cNvSpPr>
            <a:spLocks noGrp="1"/>
          </p:cNvSpPr>
          <p:nvPr/>
        </p:nvSpPr>
        <p:spPr>
          <a:xfrm>
            <a:off x="3448050" y="540296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History length: train vs valid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CFE57B5-CAF9-4ABC-BEB9-AD741E224D76}"/>
              </a:ext>
            </a:extLst>
          </p:cNvPr>
          <p:cNvSpPr>
            <a:spLocks noGrp="1"/>
          </p:cNvSpPr>
          <p:nvPr/>
        </p:nvSpPr>
        <p:spPr>
          <a:xfrm>
            <a:off x="6076950" y="4069465"/>
            <a:ext cx="2590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72238" y="4145665"/>
            <a:ext cx="1800225" cy="12001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2B3DEDA0-F744-4FDD-AE1B-98976F37DB80}"/>
              </a:ext>
            </a:extLst>
          </p:cNvPr>
          <p:cNvSpPr>
            <a:spLocks noGrp="1"/>
          </p:cNvSpPr>
          <p:nvPr/>
        </p:nvSpPr>
        <p:spPr>
          <a:xfrm>
            <a:off x="6191250" y="540296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CTR by split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856AC87-69C5-4919-8958-A53E725D88F5}"/>
              </a:ext>
            </a:extLst>
          </p:cNvPr>
          <p:cNvSpPr>
            <a:spLocks noGrp="1"/>
          </p:cNvSpPr>
          <p:nvPr/>
        </p:nvSpPr>
        <p:spPr>
          <a:xfrm>
            <a:off x="8830519" y="4064251"/>
            <a:ext cx="25908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55430" y="4145665"/>
            <a:ext cx="1920240" cy="120015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8175B37-30F6-4A9C-B104-8E2CC381E6DF}"/>
              </a:ext>
            </a:extLst>
          </p:cNvPr>
          <p:cNvSpPr>
            <a:spLocks noGrp="1"/>
          </p:cNvSpPr>
          <p:nvPr/>
        </p:nvSpPr>
        <p:spPr>
          <a:xfrm>
            <a:off x="8934450" y="540296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Top-10 category count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5F8BE4-52DD-4901-BAA7-EDCE7F1FC0C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Values from round1_descriptive_stats_output/summary.json, candidate_summary.csv, history_summary.csv, and category_top20.csv.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7CD1866-EF4B-3B2B-217C-0B7E67EEB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2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890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8C6F4-EB93-41CB-B279-F7D1FFA845C3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8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A517D-B4C0-44B0-9085-635F8B3BEA64}"/>
              </a:ext>
            </a:extLst>
          </p:cNvPr>
          <p:cNvSpPr>
            <a:spLocks noGrp="1"/>
          </p:cNvSpPr>
          <p:nvPr/>
        </p:nvSpPr>
        <p:spPr>
          <a:xfrm>
            <a:off x="590550" y="76081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</a:rPr>
              <a:t>Descriptive Findings And Modeling Implications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C5FDD-B39A-4E3A-9167-F81F92AA3BEB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saved screenshots highlight where simple baselines help and where richer features are needed.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42C88C-FB5E-4C73-BFF6-F6935EC5AD99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429000" cy="2057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28825"/>
            <a:ext cx="3276600" cy="1638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625319-5E97-4754-A409-A48971EF3961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3200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Validation candidates per impression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49DEA7-5D7C-4B0C-99D2-A024B064E0BB}"/>
              </a:ext>
            </a:extLst>
          </p:cNvPr>
          <p:cNvSpPr>
            <a:spLocks noGrp="1"/>
          </p:cNvSpPr>
          <p:nvPr/>
        </p:nvSpPr>
        <p:spPr>
          <a:xfrm>
            <a:off x="4248150" y="1943100"/>
            <a:ext cx="3429000" cy="2057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28825"/>
            <a:ext cx="3276600" cy="16383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BDA6322-89C4-4FB5-9332-400DC6ADDA34}"/>
              </a:ext>
            </a:extLst>
          </p:cNvPr>
          <p:cNvSpPr>
            <a:spLocks noGrp="1"/>
          </p:cNvSpPr>
          <p:nvPr/>
        </p:nvSpPr>
        <p:spPr>
          <a:xfrm>
            <a:off x="4362450" y="3733800"/>
            <a:ext cx="3200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Validation click rate by candidate position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1B50E9-ACF7-4E01-B229-EC81C45646CE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3695700" cy="2057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84369" y="2019300"/>
            <a:ext cx="2900363" cy="16573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D694707-41F1-48AF-9825-55410C84E2A0}"/>
              </a:ext>
            </a:extLst>
          </p:cNvPr>
          <p:cNvSpPr>
            <a:spLocks noGrp="1"/>
          </p:cNvSpPr>
          <p:nvPr/>
        </p:nvSpPr>
        <p:spPr>
          <a:xfrm>
            <a:off x="8001000" y="3733800"/>
            <a:ext cx="346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Missing ratio by field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26D2AD-2605-43C4-9896-628B05CC1D7E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7067550" cy="20193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9CBE46-2417-4DAA-A048-CDA147B924AE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6724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INTERPRETATION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27001C-44FF-404D-80CF-920DBB552792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67246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Candidate count and history-length distributions overlap strongly across splits, so comparison risk from distribution shift is low.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click-rate-by-position chart suggests presentation order still carries signal.</a:t>
            </a:r>
          </a:p>
          <a:p>
            <a:endParaRPr sz="1275" b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Missingness is concentrated in abstract, which motivates fallback handling and lightweight text statistics in later models.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678256D-E187-46FA-964C-280911763A35}"/>
              </a:ext>
            </a:extLst>
          </p:cNvPr>
          <p:cNvSpPr>
            <a:spLocks noGrp="1"/>
          </p:cNvSpPr>
          <p:nvPr/>
        </p:nvSpPr>
        <p:spPr>
          <a:xfrm>
            <a:off x="7886700" y="4362450"/>
            <a:ext cx="3695700" cy="2019300"/>
          </a:xfrm>
          <a:prstGeom prst="roundRect">
            <a:avLst>
              <a:gd name="adj" fmla="val 3774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15F8E8-7F3C-4FEA-B9D5-22CECDAFC986}"/>
              </a:ext>
            </a:extLst>
          </p:cNvPr>
          <p:cNvSpPr>
            <a:spLocks noGrp="1"/>
          </p:cNvSpPr>
          <p:nvPr/>
        </p:nvSpPr>
        <p:spPr>
          <a:xfrm>
            <a:off x="8058150" y="4495800"/>
            <a:ext cx="3352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MODELING CONSEQUENCE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06D71-5A1D-449B-B9BE-6097B932FD8C}"/>
              </a:ext>
            </a:extLst>
          </p:cNvPr>
          <p:cNvSpPr>
            <a:spLocks noGrp="1"/>
          </p:cNvSpPr>
          <p:nvPr/>
        </p:nvSpPr>
        <p:spPr>
          <a:xfrm>
            <a:off x="8058150" y="4781550"/>
            <a:ext cx="33528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These plots justify the design of later baselines: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popularity for a quick prior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TF-IDF for content similarity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history-match features for CTR models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candidate position as a useful context feature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37D5B2-70B9-4C18-8587-F182B83198A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All remaining descriptive PNGs from round1_descriptive_stats_output are embedded on this slide.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E2A727-D475-DBC4-2567-3FF31105F1DD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B4A0A4-F9AF-4569-30BE-EB17F1ED3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73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7F332-155B-4F73-854E-19FF9016FD87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0</a:t>
            </a:r>
            <a:r>
              <a:rPr lang="en-US" altLang="zh-CN" sz="1350" b="1" dirty="0">
                <a:solidFill>
                  <a:srgbClr val="4472C4"/>
                </a:solidFill>
              </a:rPr>
              <a:t>9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12BBE-C2D4-47AB-8EC6-36BF545B8499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Popularity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7B8327-EF34-4702-BF9C-60BA2C680FF2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simplest reference model ranks validation candidates by global training click counts.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30AC0-5756-4E7E-B921-FE1BD4A5AC2B}"/>
              </a:ext>
            </a:extLst>
          </p:cNvPr>
          <p:cNvSpPr>
            <a:spLocks noGrp="1"/>
          </p:cNvSpPr>
          <p:nvPr/>
        </p:nvSpPr>
        <p:spPr>
          <a:xfrm>
            <a:off x="609600" y="1656160"/>
            <a:ext cx="1809750" cy="247650"/>
          </a:xfrm>
          <a:prstGeom prst="roundRect">
            <a:avLst>
              <a:gd name="adj" fmla="val 30769"/>
            </a:avLst>
          </a:prstGeom>
          <a:solidFill>
            <a:srgbClr val="FFF7DF"/>
          </a:solidFill>
          <a:ln w="0">
            <a:solidFill>
              <a:srgbClr val="FFF7DF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FFC000"/>
                </a:solidFill>
              </a:defRPr>
            </a:pPr>
            <a:r>
              <a:rPr sz="900" b="1">
                <a:solidFill>
                  <a:srgbClr val="FFC000"/>
                </a:solidFill>
              </a:rPr>
              <a:t>popularity_baseline.ipynb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2317F9-4E4E-45F9-B396-A8B2627A67F0}"/>
              </a:ext>
            </a:extLst>
          </p:cNvPr>
          <p:cNvSpPr>
            <a:spLocks noGrp="1"/>
          </p:cNvSpPr>
          <p:nvPr/>
        </p:nvSpPr>
        <p:spPr>
          <a:xfrm>
            <a:off x="2590800" y="165616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AF2FB"/>
          </a:solidFill>
          <a:ln w="0">
            <a:solidFill>
              <a:srgbClr val="EAF2FB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rPr sz="900" b="1">
                <a:solidFill>
                  <a:srgbClr val="4472C4"/>
                </a:solidFill>
              </a:rPr>
              <a:t>RECALL-STYLE BASELINE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E17E9C-6523-453B-96EC-C1D038BDD56F}"/>
              </a:ext>
            </a:extLst>
          </p:cNvPr>
          <p:cNvSpPr>
            <a:spLocks noGrp="1"/>
          </p:cNvSpPr>
          <p:nvPr/>
        </p:nvSpPr>
        <p:spPr>
          <a:xfrm>
            <a:off x="609600" y="1980010"/>
            <a:ext cx="4038600" cy="2019300"/>
          </a:xfrm>
          <a:prstGeom prst="roundRect">
            <a:avLst>
              <a:gd name="adj" fmla="val 3774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27661-85CA-421C-B95F-D63A934FD2D8}"/>
              </a:ext>
            </a:extLst>
          </p:cNvPr>
          <p:cNvSpPr>
            <a:spLocks noGrp="1"/>
          </p:cNvSpPr>
          <p:nvPr/>
        </p:nvSpPr>
        <p:spPr>
          <a:xfrm>
            <a:off x="781050" y="2113360"/>
            <a:ext cx="3695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D63507-4DD8-4AAE-967D-0766EFEAF96E}"/>
              </a:ext>
            </a:extLst>
          </p:cNvPr>
          <p:cNvSpPr>
            <a:spLocks noGrp="1"/>
          </p:cNvSpPr>
          <p:nvPr/>
        </p:nvSpPr>
        <p:spPr>
          <a:xfrm>
            <a:off x="781050" y="2399110"/>
            <a:ext cx="36957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1. Parse impressions from behaviors.tsv.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2. Count how often each news article was clicked in training.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3. Score each candidate by that global popularity.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4. Evaluate ranking metrics on validation.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5F7043-B70B-469A-BB30-B5ECE6A1CCC4}"/>
              </a:ext>
            </a:extLst>
          </p:cNvPr>
          <p:cNvSpPr>
            <a:spLocks noGrp="1"/>
          </p:cNvSpPr>
          <p:nvPr/>
        </p:nvSpPr>
        <p:spPr>
          <a:xfrm>
            <a:off x="609600" y="4227910"/>
            <a:ext cx="40386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B30B2-FBAB-4E52-919A-81EA3DDFEAF6}"/>
              </a:ext>
            </a:extLst>
          </p:cNvPr>
          <p:cNvSpPr>
            <a:spLocks noGrp="1"/>
          </p:cNvSpPr>
          <p:nvPr/>
        </p:nvSpPr>
        <p:spPr>
          <a:xfrm>
            <a:off x="781050" y="4361260"/>
            <a:ext cx="3695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WHY KEEP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14D13-751C-4D51-9E74-F9B30FA4059F}"/>
              </a:ext>
            </a:extLst>
          </p:cNvPr>
          <p:cNvSpPr>
            <a:spLocks noGrp="1"/>
          </p:cNvSpPr>
          <p:nvPr/>
        </p:nvSpPr>
        <p:spPr>
          <a:xfrm>
            <a:off x="781050" y="4647010"/>
            <a:ext cx="36957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This notebook is the minimum sanity-check baseline for the end-to-end ranking pipeline. It is cheap, transparent, and useful for verifying that stronger methods are learning beyond a popularity prior.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6E97064-C131-48D5-8E86-F05B00DC52F6}"/>
              </a:ext>
            </a:extLst>
          </p:cNvPr>
          <p:cNvSpPr>
            <a:spLocks noGrp="1"/>
          </p:cNvSpPr>
          <p:nvPr/>
        </p:nvSpPr>
        <p:spPr>
          <a:xfrm>
            <a:off x="5105400" y="2132410"/>
            <a:ext cx="142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2AC15-C214-474F-AC73-E843A4363114}"/>
              </a:ext>
            </a:extLst>
          </p:cNvPr>
          <p:cNvSpPr>
            <a:spLocks noGrp="1"/>
          </p:cNvSpPr>
          <p:nvPr/>
        </p:nvSpPr>
        <p:spPr>
          <a:xfrm>
            <a:off x="5105400" y="2132410"/>
            <a:ext cx="14287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6960BE-78D0-4F06-B46D-F36EC509257E}"/>
              </a:ext>
            </a:extLst>
          </p:cNvPr>
          <p:cNvSpPr>
            <a:spLocks noGrp="1"/>
          </p:cNvSpPr>
          <p:nvPr/>
        </p:nvSpPr>
        <p:spPr>
          <a:xfrm>
            <a:off x="5276850" y="2341960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0.5318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A1F8FE-3700-4050-8B5E-0456CA704427}"/>
              </a:ext>
            </a:extLst>
          </p:cNvPr>
          <p:cNvSpPr>
            <a:spLocks noGrp="1"/>
          </p:cNvSpPr>
          <p:nvPr/>
        </p:nvSpPr>
        <p:spPr>
          <a:xfrm>
            <a:off x="5276850" y="274201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AUC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DF0A4F-04DA-4C16-A433-BAF1C1222B74}"/>
              </a:ext>
            </a:extLst>
          </p:cNvPr>
          <p:cNvSpPr>
            <a:spLocks noGrp="1"/>
          </p:cNvSpPr>
          <p:nvPr/>
        </p:nvSpPr>
        <p:spPr>
          <a:xfrm>
            <a:off x="6686550" y="2132410"/>
            <a:ext cx="142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AE8C53-FFED-4793-8DE1-E7D9BE467817}"/>
              </a:ext>
            </a:extLst>
          </p:cNvPr>
          <p:cNvSpPr>
            <a:spLocks noGrp="1"/>
          </p:cNvSpPr>
          <p:nvPr/>
        </p:nvSpPr>
        <p:spPr>
          <a:xfrm>
            <a:off x="6686550" y="2132410"/>
            <a:ext cx="14287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285053-332C-408E-8DB4-3051AC9421C5}"/>
              </a:ext>
            </a:extLst>
          </p:cNvPr>
          <p:cNvSpPr>
            <a:spLocks noGrp="1"/>
          </p:cNvSpPr>
          <p:nvPr/>
        </p:nvSpPr>
        <p:spPr>
          <a:xfrm>
            <a:off x="6858000" y="2341960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0.2671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3CAE1C-1C46-48A8-B728-EDF795E2CEE3}"/>
              </a:ext>
            </a:extLst>
          </p:cNvPr>
          <p:cNvSpPr>
            <a:spLocks noGrp="1"/>
          </p:cNvSpPr>
          <p:nvPr/>
        </p:nvSpPr>
        <p:spPr>
          <a:xfrm>
            <a:off x="6858000" y="274201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MRR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731E479-C501-4E86-B6F3-E559EBEEB78C}"/>
              </a:ext>
            </a:extLst>
          </p:cNvPr>
          <p:cNvSpPr>
            <a:spLocks noGrp="1"/>
          </p:cNvSpPr>
          <p:nvPr/>
        </p:nvSpPr>
        <p:spPr>
          <a:xfrm>
            <a:off x="8267700" y="2132410"/>
            <a:ext cx="142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078C18-5450-42BE-B1B7-4DAD49551280}"/>
              </a:ext>
            </a:extLst>
          </p:cNvPr>
          <p:cNvSpPr>
            <a:spLocks noGrp="1"/>
          </p:cNvSpPr>
          <p:nvPr/>
        </p:nvSpPr>
        <p:spPr>
          <a:xfrm>
            <a:off x="8267700" y="2132410"/>
            <a:ext cx="142875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9F6D32-48F0-447F-B495-337DDE1156FC}"/>
              </a:ext>
            </a:extLst>
          </p:cNvPr>
          <p:cNvSpPr>
            <a:spLocks noGrp="1"/>
          </p:cNvSpPr>
          <p:nvPr/>
        </p:nvSpPr>
        <p:spPr>
          <a:xfrm>
            <a:off x="8439150" y="2341960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0.2460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0986D5-7E14-4E65-AA8C-47D3899A87D1}"/>
              </a:ext>
            </a:extLst>
          </p:cNvPr>
          <p:cNvSpPr>
            <a:spLocks noGrp="1"/>
          </p:cNvSpPr>
          <p:nvPr/>
        </p:nvSpPr>
        <p:spPr>
          <a:xfrm>
            <a:off x="8439150" y="274201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nDCG@5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F99AAC1-F86F-4B4C-AD29-3E940D7CDE2D}"/>
              </a:ext>
            </a:extLst>
          </p:cNvPr>
          <p:cNvSpPr>
            <a:spLocks noGrp="1"/>
          </p:cNvSpPr>
          <p:nvPr/>
        </p:nvSpPr>
        <p:spPr>
          <a:xfrm>
            <a:off x="9848850" y="2132410"/>
            <a:ext cx="1428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248D61-B376-42DD-97D3-9C4A413956CF}"/>
              </a:ext>
            </a:extLst>
          </p:cNvPr>
          <p:cNvSpPr>
            <a:spLocks noGrp="1"/>
          </p:cNvSpPr>
          <p:nvPr/>
        </p:nvSpPr>
        <p:spPr>
          <a:xfrm>
            <a:off x="9848850" y="2132410"/>
            <a:ext cx="14287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C2913C-05E2-4D28-A378-EEF709B61452}"/>
              </a:ext>
            </a:extLst>
          </p:cNvPr>
          <p:cNvSpPr>
            <a:spLocks noGrp="1"/>
          </p:cNvSpPr>
          <p:nvPr/>
        </p:nvSpPr>
        <p:spPr>
          <a:xfrm>
            <a:off x="10020300" y="2341960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0.3098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D0D800-85D8-4D5A-8958-035E70D435E8}"/>
              </a:ext>
            </a:extLst>
          </p:cNvPr>
          <p:cNvSpPr>
            <a:spLocks noGrp="1"/>
          </p:cNvSpPr>
          <p:nvPr/>
        </p:nvSpPr>
        <p:spPr>
          <a:xfrm>
            <a:off x="10020300" y="274201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nDCG@10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91D9F40-2A63-47F1-A1D0-8EED0665B385}"/>
              </a:ext>
            </a:extLst>
          </p:cNvPr>
          <p:cNvSpPr>
            <a:spLocks noGrp="1"/>
          </p:cNvSpPr>
          <p:nvPr/>
        </p:nvSpPr>
        <p:spPr>
          <a:xfrm>
            <a:off x="5105400" y="3675460"/>
            <a:ext cx="6172200" cy="2228850"/>
          </a:xfrm>
          <a:prstGeom prst="roundRect">
            <a:avLst>
              <a:gd name="adj" fmla="val 3419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889181-E83B-410D-A34A-2A54F2563405}"/>
              </a:ext>
            </a:extLst>
          </p:cNvPr>
          <p:cNvSpPr>
            <a:spLocks noGrp="1"/>
          </p:cNvSpPr>
          <p:nvPr/>
        </p:nvSpPr>
        <p:spPr>
          <a:xfrm>
            <a:off x="5276850" y="3808810"/>
            <a:ext cx="582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SUMMARY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6A6B39-4BF4-4BCF-B57E-BC693A5FAABD}"/>
              </a:ext>
            </a:extLst>
          </p:cNvPr>
          <p:cNvSpPr>
            <a:spLocks noGrp="1"/>
          </p:cNvSpPr>
          <p:nvPr/>
        </p:nvSpPr>
        <p:spPr>
          <a:xfrm>
            <a:off x="5276850" y="4094560"/>
            <a:ext cx="58293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Popularity beats random ranking and gives a consistent baseline, but it cannot personalize by user history or article content. The next notebooks improve on this with content, collaborative, and CTR-specific signals.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319812-037A-4705-8FC7-80DF4CB39DD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Metrics from popularity_baseline_output/metrics_popularity_baseline.csv.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2EDAAD-6308-9588-F5A0-BBC32B738964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74DC7FC-0D11-B78E-F058-21004D4C9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2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41F6DF-A4A3-47A3-993E-A244C64FEAE7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lang="en-US" altLang="zh-CN" sz="1350" b="1" dirty="0">
                <a:solidFill>
                  <a:srgbClr val="4472C4"/>
                </a:solidFill>
              </a:rPr>
              <a:t>10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C3B33-3321-4319-BF10-8E0EB8D92DAE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TF-IDF Content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82E7E-A5E1-4DC4-9EFC-F30510B92E07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This notebook turns title and abstract text into a user profile and scores each candidate by cosine similarity.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7543D1-8898-4F47-8992-45813A5A15C2}"/>
              </a:ext>
            </a:extLst>
          </p:cNvPr>
          <p:cNvSpPr>
            <a:spLocks noGrp="1"/>
          </p:cNvSpPr>
          <p:nvPr/>
        </p:nvSpPr>
        <p:spPr>
          <a:xfrm>
            <a:off x="609600" y="1656160"/>
            <a:ext cx="952500" cy="247650"/>
          </a:xfrm>
          <a:prstGeom prst="roundRect">
            <a:avLst>
              <a:gd name="adj" fmla="val 30769"/>
            </a:avLst>
          </a:prstGeom>
          <a:solidFill>
            <a:srgbClr val="EEF5FC"/>
          </a:solidFill>
          <a:ln w="0">
            <a:solidFill>
              <a:srgbClr val="EEF5FC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5B9BD5"/>
                </a:solidFill>
              </a:defRPr>
            </a:pPr>
            <a:r>
              <a:rPr sz="900" b="1">
                <a:solidFill>
                  <a:srgbClr val="5B9BD5"/>
                </a:solidFill>
              </a:rPr>
              <a:t>tfidf.ipynb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6DB016-C359-4026-9E87-1DC602AB6DD1}"/>
              </a:ext>
            </a:extLst>
          </p:cNvPr>
          <p:cNvSpPr>
            <a:spLocks noGrp="1"/>
          </p:cNvSpPr>
          <p:nvPr/>
        </p:nvSpPr>
        <p:spPr>
          <a:xfrm>
            <a:off x="1733550" y="165616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AF2FB"/>
          </a:solidFill>
          <a:ln w="0">
            <a:solidFill>
              <a:srgbClr val="EAF2FB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rPr sz="900" b="1">
                <a:solidFill>
                  <a:srgbClr val="4472C4"/>
                </a:solidFill>
              </a:rPr>
              <a:t>RECALL-STYLE BASELINE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AF4CB3-CC80-4090-AD77-67D84AE43875}"/>
              </a:ext>
            </a:extLst>
          </p:cNvPr>
          <p:cNvSpPr>
            <a:spLocks noGrp="1"/>
          </p:cNvSpPr>
          <p:nvPr/>
        </p:nvSpPr>
        <p:spPr>
          <a:xfrm>
            <a:off x="609600" y="1980010"/>
            <a:ext cx="4095750" cy="1981200"/>
          </a:xfrm>
          <a:prstGeom prst="roundRect">
            <a:avLst>
              <a:gd name="adj" fmla="val 3846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8AEF3-146F-4C3C-B78E-2768803188B5}"/>
              </a:ext>
            </a:extLst>
          </p:cNvPr>
          <p:cNvSpPr>
            <a:spLocks noGrp="1"/>
          </p:cNvSpPr>
          <p:nvPr/>
        </p:nvSpPr>
        <p:spPr>
          <a:xfrm>
            <a:off x="781050" y="211336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1CE46-7F65-4AF7-B226-6A29C59B46C0}"/>
              </a:ext>
            </a:extLst>
          </p:cNvPr>
          <p:cNvSpPr>
            <a:spLocks noGrp="1"/>
          </p:cNvSpPr>
          <p:nvPr/>
        </p:nvSpPr>
        <p:spPr>
          <a:xfrm>
            <a:off x="781050" y="2399110"/>
            <a:ext cx="37528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Build text with title + abstract.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Fit a TF-IDF vectorizer over the news corpus.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Average clicked-history vectors into a user representation.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• Score candidates by cosine similarity to that profile.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3AE63E-AF1A-4020-B1D2-48E34C6296DC}"/>
              </a:ext>
            </a:extLst>
          </p:cNvPr>
          <p:cNvSpPr>
            <a:spLocks noGrp="1"/>
          </p:cNvSpPr>
          <p:nvPr/>
        </p:nvSpPr>
        <p:spPr>
          <a:xfrm>
            <a:off x="609600" y="4189810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D75AC-C977-4A09-8160-D47F49739FF9}"/>
              </a:ext>
            </a:extLst>
          </p:cNvPr>
          <p:cNvSpPr>
            <a:spLocks noGrp="1"/>
          </p:cNvSpPr>
          <p:nvPr/>
        </p:nvSpPr>
        <p:spPr>
          <a:xfrm>
            <a:off x="781050" y="432316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LIMITATIONS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F2DE35-EDCA-4E51-B570-5168CC43C3CB}"/>
              </a:ext>
            </a:extLst>
          </p:cNvPr>
          <p:cNvSpPr>
            <a:spLocks noGrp="1"/>
          </p:cNvSpPr>
          <p:nvPr/>
        </p:nvSpPr>
        <p:spPr>
          <a:xfrm>
            <a:off x="781050" y="4608910"/>
            <a:ext cx="37528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No semantic understanding, no collaborative signal, and cold-start users with empty history get score 0. Even so, this notebook offers a strong content-based reference and a reusable text-processing path.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623671-F128-4F46-9892-AA5C8B1C94DA}"/>
              </a:ext>
            </a:extLst>
          </p:cNvPr>
          <p:cNvSpPr>
            <a:spLocks noGrp="1"/>
          </p:cNvSpPr>
          <p:nvPr/>
        </p:nvSpPr>
        <p:spPr>
          <a:xfrm>
            <a:off x="5048250" y="19609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FCEA1F-BD0B-4C7C-98AF-5C828D34F0D5}"/>
              </a:ext>
            </a:extLst>
          </p:cNvPr>
          <p:cNvSpPr>
            <a:spLocks noGrp="1"/>
          </p:cNvSpPr>
          <p:nvPr/>
        </p:nvSpPr>
        <p:spPr>
          <a:xfrm>
            <a:off x="5048250" y="1960960"/>
            <a:ext cx="14668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999A7-FE7F-4EE9-8AE8-EEE3DDBF96B5}"/>
              </a:ext>
            </a:extLst>
          </p:cNvPr>
          <p:cNvSpPr>
            <a:spLocks noGrp="1"/>
          </p:cNvSpPr>
          <p:nvPr/>
        </p:nvSpPr>
        <p:spPr>
          <a:xfrm>
            <a:off x="5219700" y="21705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0.5656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211AB-45C8-4778-9B42-81A94CB7F66E}"/>
              </a:ext>
            </a:extLst>
          </p:cNvPr>
          <p:cNvSpPr>
            <a:spLocks noGrp="1"/>
          </p:cNvSpPr>
          <p:nvPr/>
        </p:nvSpPr>
        <p:spPr>
          <a:xfrm>
            <a:off x="5219700" y="25705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AUC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AB040B1-2185-4C28-A5BA-D6D56918483E}"/>
              </a:ext>
            </a:extLst>
          </p:cNvPr>
          <p:cNvSpPr>
            <a:spLocks noGrp="1"/>
          </p:cNvSpPr>
          <p:nvPr/>
        </p:nvSpPr>
        <p:spPr>
          <a:xfrm>
            <a:off x="6667500" y="19609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77E23B-3322-46E3-A35D-44699F50F327}"/>
              </a:ext>
            </a:extLst>
          </p:cNvPr>
          <p:cNvSpPr>
            <a:spLocks noGrp="1"/>
          </p:cNvSpPr>
          <p:nvPr/>
        </p:nvSpPr>
        <p:spPr>
          <a:xfrm>
            <a:off x="6667500" y="1960960"/>
            <a:ext cx="14668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3FC67B-830E-40B6-8810-DD8D0ABDEF1F}"/>
              </a:ext>
            </a:extLst>
          </p:cNvPr>
          <p:cNvSpPr>
            <a:spLocks noGrp="1"/>
          </p:cNvSpPr>
          <p:nvPr/>
        </p:nvSpPr>
        <p:spPr>
          <a:xfrm>
            <a:off x="6838950" y="21705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0.3154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1584F7-8178-46C6-ABFF-8C6BAA6DFBFB}"/>
              </a:ext>
            </a:extLst>
          </p:cNvPr>
          <p:cNvSpPr>
            <a:spLocks noGrp="1"/>
          </p:cNvSpPr>
          <p:nvPr/>
        </p:nvSpPr>
        <p:spPr>
          <a:xfrm>
            <a:off x="6838950" y="25705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MRR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8C6191A-E8D8-4ED0-9CA5-34BFEA1087B4}"/>
              </a:ext>
            </a:extLst>
          </p:cNvPr>
          <p:cNvSpPr>
            <a:spLocks noGrp="1"/>
          </p:cNvSpPr>
          <p:nvPr/>
        </p:nvSpPr>
        <p:spPr>
          <a:xfrm>
            <a:off x="8286750" y="19609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2BAE6F-107D-440A-ABAF-DCFEC8FEBDC9}"/>
              </a:ext>
            </a:extLst>
          </p:cNvPr>
          <p:cNvSpPr>
            <a:spLocks noGrp="1"/>
          </p:cNvSpPr>
          <p:nvPr/>
        </p:nvSpPr>
        <p:spPr>
          <a:xfrm>
            <a:off x="8286750" y="1960960"/>
            <a:ext cx="146685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9DCC9E-C63B-4D81-A29B-D2A051B98D4A}"/>
              </a:ext>
            </a:extLst>
          </p:cNvPr>
          <p:cNvSpPr>
            <a:spLocks noGrp="1"/>
          </p:cNvSpPr>
          <p:nvPr/>
        </p:nvSpPr>
        <p:spPr>
          <a:xfrm>
            <a:off x="8458200" y="21705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0.2882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6C3521-3807-4400-B7F7-07D5A58A0C4A}"/>
              </a:ext>
            </a:extLst>
          </p:cNvPr>
          <p:cNvSpPr>
            <a:spLocks noGrp="1"/>
          </p:cNvSpPr>
          <p:nvPr/>
        </p:nvSpPr>
        <p:spPr>
          <a:xfrm>
            <a:off x="8458200" y="25705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nDCG@5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FA90685-32F4-41E1-A4B6-97C77B96B74D}"/>
              </a:ext>
            </a:extLst>
          </p:cNvPr>
          <p:cNvSpPr>
            <a:spLocks noGrp="1"/>
          </p:cNvSpPr>
          <p:nvPr/>
        </p:nvSpPr>
        <p:spPr>
          <a:xfrm>
            <a:off x="9906000" y="19609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CE78DA-ADD6-4B71-9285-A23515C35893}"/>
              </a:ext>
            </a:extLst>
          </p:cNvPr>
          <p:cNvSpPr>
            <a:spLocks noGrp="1"/>
          </p:cNvSpPr>
          <p:nvPr/>
        </p:nvSpPr>
        <p:spPr>
          <a:xfrm>
            <a:off x="9906000" y="1960960"/>
            <a:ext cx="14668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45B1E8-6781-4010-8592-AAB5648048E7}"/>
              </a:ext>
            </a:extLst>
          </p:cNvPr>
          <p:cNvSpPr>
            <a:spLocks noGrp="1"/>
          </p:cNvSpPr>
          <p:nvPr/>
        </p:nvSpPr>
        <p:spPr>
          <a:xfrm>
            <a:off x="10077450" y="21705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0.3513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322F73-CAB4-4D73-A21E-9789BB5DCF64}"/>
              </a:ext>
            </a:extLst>
          </p:cNvPr>
          <p:cNvSpPr>
            <a:spLocks noGrp="1"/>
          </p:cNvSpPr>
          <p:nvPr/>
        </p:nvSpPr>
        <p:spPr>
          <a:xfrm>
            <a:off x="10077450" y="25705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nDCG@10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81CB08C-C0C9-4098-9DFB-4D0ADDD7C005}"/>
              </a:ext>
            </a:extLst>
          </p:cNvPr>
          <p:cNvSpPr>
            <a:spLocks noGrp="1"/>
          </p:cNvSpPr>
          <p:nvPr/>
        </p:nvSpPr>
        <p:spPr>
          <a:xfrm>
            <a:off x="5048250" y="3313510"/>
            <a:ext cx="632460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24450" y="3456385"/>
            <a:ext cx="6172200" cy="20574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9565D55-E677-4939-906A-29C95E0612CF}"/>
              </a:ext>
            </a:extLst>
          </p:cNvPr>
          <p:cNvSpPr>
            <a:spLocks noGrp="1"/>
          </p:cNvSpPr>
          <p:nvPr/>
        </p:nvSpPr>
        <p:spPr>
          <a:xfrm>
            <a:off x="5162550" y="563761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Score distribution of clicked vs. non-clicked candidates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B931C4-6101-4A4D-B369-649D4218482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Metrics from tfidf_output/metrics.json; figure from tfidf_output/score_distribution.png.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4949E5-48F9-B294-EFA6-872002EEB8AB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948816-ECFC-AC4E-81EA-16E1EF674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2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FF2E9-4C08-49A1-94B3-D1278BE98B0B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lang="en-US" altLang="zh-CN" sz="1350" b="1" dirty="0">
                <a:solidFill>
                  <a:srgbClr val="4472C4"/>
                </a:solidFill>
              </a:rPr>
              <a:t>11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B04675-58D9-40FD-92EA-81E5AB5D39BD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Item-Based Collaborative Filtering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163E2-4F6B-4CB2-874A-69257AAA81D3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ItemCF scores each validation candidate by its similarity to the items in a user's click history.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5AE993-5F4B-47AE-A213-CBA45D24C341}"/>
              </a:ext>
            </a:extLst>
          </p:cNvPr>
          <p:cNvSpPr>
            <a:spLocks noGrp="1"/>
          </p:cNvSpPr>
          <p:nvPr/>
        </p:nvSpPr>
        <p:spPr>
          <a:xfrm>
            <a:off x="609600" y="1656160"/>
            <a:ext cx="1066800" cy="247650"/>
          </a:xfrm>
          <a:prstGeom prst="roundRect">
            <a:avLst>
              <a:gd name="adj" fmla="val 30769"/>
            </a:avLst>
          </a:prstGeom>
          <a:solidFill>
            <a:srgbClr val="EAF2FB"/>
          </a:solidFill>
          <a:ln w="0">
            <a:solidFill>
              <a:srgbClr val="EAF2FB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rPr sz="900" b="1">
                <a:solidFill>
                  <a:srgbClr val="4472C4"/>
                </a:solidFill>
              </a:rPr>
              <a:t>itemcf.ipynb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DE57D7-DB22-45E6-A654-3D8D4F279D52}"/>
              </a:ext>
            </a:extLst>
          </p:cNvPr>
          <p:cNvSpPr>
            <a:spLocks noGrp="1"/>
          </p:cNvSpPr>
          <p:nvPr/>
        </p:nvSpPr>
        <p:spPr>
          <a:xfrm>
            <a:off x="1847850" y="1656160"/>
            <a:ext cx="1676400" cy="247650"/>
          </a:xfrm>
          <a:prstGeom prst="roundRect">
            <a:avLst>
              <a:gd name="adj" fmla="val 30769"/>
            </a:avLst>
          </a:prstGeom>
          <a:solidFill>
            <a:srgbClr val="EAF2FB"/>
          </a:solidFill>
          <a:ln w="0">
            <a:solidFill>
              <a:srgbClr val="EAF2FB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rPr sz="900" b="1">
                <a:solidFill>
                  <a:srgbClr val="4472C4"/>
                </a:solidFill>
              </a:rPr>
              <a:t>RECALL-STYLE BASELINE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F33F27-1861-45BC-8406-1DFC14118B67}"/>
              </a:ext>
            </a:extLst>
          </p:cNvPr>
          <p:cNvSpPr>
            <a:spLocks noGrp="1"/>
          </p:cNvSpPr>
          <p:nvPr/>
        </p:nvSpPr>
        <p:spPr>
          <a:xfrm>
            <a:off x="609600" y="1980010"/>
            <a:ext cx="3829050" cy="1790700"/>
          </a:xfrm>
          <a:prstGeom prst="roundRect">
            <a:avLst>
              <a:gd name="adj" fmla="val 4255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96830-0F41-49BD-A09E-EBDEC45CCF85}"/>
              </a:ext>
            </a:extLst>
          </p:cNvPr>
          <p:cNvSpPr>
            <a:spLocks noGrp="1"/>
          </p:cNvSpPr>
          <p:nvPr/>
        </p:nvSpPr>
        <p:spPr>
          <a:xfrm>
            <a:off x="781050" y="2113360"/>
            <a:ext cx="348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CORE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0501D-E05D-476F-A8AA-881BDE7D8CC3}"/>
              </a:ext>
            </a:extLst>
          </p:cNvPr>
          <p:cNvSpPr>
            <a:spLocks noGrp="1"/>
          </p:cNvSpPr>
          <p:nvPr/>
        </p:nvSpPr>
        <p:spPr>
          <a:xfrm>
            <a:off x="781050" y="2399110"/>
            <a:ext cx="34861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Build train-time user-clicked item sets, then compare a candidate item with the user's history through pairwise similarity. In this notebook, the similarity function is Jaccard-based and fully collaborative.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4C1AEA-1B62-4C97-A6D4-C1E392E57674}"/>
              </a:ext>
            </a:extLst>
          </p:cNvPr>
          <p:cNvSpPr>
            <a:spLocks noGrp="1"/>
          </p:cNvSpPr>
          <p:nvPr/>
        </p:nvSpPr>
        <p:spPr>
          <a:xfrm>
            <a:off x="609600" y="3999310"/>
            <a:ext cx="382905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60E0F-97DD-41B6-80E8-FC1FBD2DC603}"/>
              </a:ext>
            </a:extLst>
          </p:cNvPr>
          <p:cNvSpPr>
            <a:spLocks noGrp="1"/>
          </p:cNvSpPr>
          <p:nvPr/>
        </p:nvSpPr>
        <p:spPr>
          <a:xfrm>
            <a:off x="781050" y="4132660"/>
            <a:ext cx="348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C627D-380D-4DD1-81C4-7491EC16E8FE}"/>
              </a:ext>
            </a:extLst>
          </p:cNvPr>
          <p:cNvSpPr>
            <a:spLocks noGrp="1"/>
          </p:cNvSpPr>
          <p:nvPr/>
        </p:nvSpPr>
        <p:spPr>
          <a:xfrm>
            <a:off x="781050" y="4418410"/>
            <a:ext cx="34861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clicked history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↓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find similar items in train clicks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↓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aggregate similarity score per candidate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↓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rank candidates inside each impression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781B46-B7E3-4F24-8D4E-0AE84C4A05FA}"/>
              </a:ext>
            </a:extLst>
          </p:cNvPr>
          <p:cNvSpPr>
            <a:spLocks noGrp="1"/>
          </p:cNvSpPr>
          <p:nvPr/>
        </p:nvSpPr>
        <p:spPr>
          <a:xfrm>
            <a:off x="4724400" y="3923110"/>
            <a:ext cx="6572250" cy="1962150"/>
          </a:xfrm>
          <a:prstGeom prst="roundRect">
            <a:avLst>
              <a:gd name="adj" fmla="val 3883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33E62-D262-4B21-95BE-8B3F738090C9}"/>
              </a:ext>
            </a:extLst>
          </p:cNvPr>
          <p:cNvSpPr>
            <a:spLocks noGrp="1"/>
          </p:cNvSpPr>
          <p:nvPr/>
        </p:nvSpPr>
        <p:spPr>
          <a:xfrm>
            <a:off x="4895850" y="4056460"/>
            <a:ext cx="6229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INTERPRETATION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921D9B-E01A-44F7-B49F-15E19D008504}"/>
              </a:ext>
            </a:extLst>
          </p:cNvPr>
          <p:cNvSpPr>
            <a:spLocks noGrp="1"/>
          </p:cNvSpPr>
          <p:nvPr/>
        </p:nvSpPr>
        <p:spPr>
          <a:xfrm>
            <a:off x="4895850" y="4342210"/>
            <a:ext cx="62293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ItemCF provides a pure collaborative baseline, but its AUC and ranking metrics are weaker than the content and CTR models here. That suggests user-history overlap alone is not enough in this Round 1 setup.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79C2571-0758-46DF-B262-81FFC0366898}"/>
              </a:ext>
            </a:extLst>
          </p:cNvPr>
          <p:cNvSpPr>
            <a:spLocks noGrp="1"/>
          </p:cNvSpPr>
          <p:nvPr/>
        </p:nvSpPr>
        <p:spPr>
          <a:xfrm>
            <a:off x="4724400" y="198001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3D255C-65F9-49CA-9ADE-6F56F6B96940}"/>
              </a:ext>
            </a:extLst>
          </p:cNvPr>
          <p:cNvSpPr>
            <a:spLocks noGrp="1"/>
          </p:cNvSpPr>
          <p:nvPr/>
        </p:nvSpPr>
        <p:spPr>
          <a:xfrm>
            <a:off x="4724400" y="1980010"/>
            <a:ext cx="14668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776FA3-1734-4327-AC89-83C20CC5D53B}"/>
              </a:ext>
            </a:extLst>
          </p:cNvPr>
          <p:cNvSpPr>
            <a:spLocks noGrp="1"/>
          </p:cNvSpPr>
          <p:nvPr/>
        </p:nvSpPr>
        <p:spPr>
          <a:xfrm>
            <a:off x="4895850" y="218956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0.5212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0746DA-9222-43C8-874B-DD7F372E15D8}"/>
              </a:ext>
            </a:extLst>
          </p:cNvPr>
          <p:cNvSpPr>
            <a:spLocks noGrp="1"/>
          </p:cNvSpPr>
          <p:nvPr/>
        </p:nvSpPr>
        <p:spPr>
          <a:xfrm>
            <a:off x="4895850" y="258961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AUC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6A0BC4-6D26-473A-ABDE-5EDEAA987FE2}"/>
              </a:ext>
            </a:extLst>
          </p:cNvPr>
          <p:cNvSpPr>
            <a:spLocks noGrp="1"/>
          </p:cNvSpPr>
          <p:nvPr/>
        </p:nvSpPr>
        <p:spPr>
          <a:xfrm>
            <a:off x="6343650" y="198001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B9BF04-1ACB-4C9B-957A-E2964DBD5590}"/>
              </a:ext>
            </a:extLst>
          </p:cNvPr>
          <p:cNvSpPr>
            <a:spLocks noGrp="1"/>
          </p:cNvSpPr>
          <p:nvPr/>
        </p:nvSpPr>
        <p:spPr>
          <a:xfrm>
            <a:off x="6343650" y="1980010"/>
            <a:ext cx="14668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4B73ED-DA3D-44B5-A48F-DBEE1691A00E}"/>
              </a:ext>
            </a:extLst>
          </p:cNvPr>
          <p:cNvSpPr>
            <a:spLocks noGrp="1"/>
          </p:cNvSpPr>
          <p:nvPr/>
        </p:nvSpPr>
        <p:spPr>
          <a:xfrm>
            <a:off x="6515100" y="218956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0.2634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B24F70-50E5-4FDF-9C72-38C14D7B516E}"/>
              </a:ext>
            </a:extLst>
          </p:cNvPr>
          <p:cNvSpPr>
            <a:spLocks noGrp="1"/>
          </p:cNvSpPr>
          <p:nvPr/>
        </p:nvSpPr>
        <p:spPr>
          <a:xfrm>
            <a:off x="6515100" y="258961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MRR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5101148-F029-4880-9972-6228795420FF}"/>
              </a:ext>
            </a:extLst>
          </p:cNvPr>
          <p:cNvSpPr>
            <a:spLocks noGrp="1"/>
          </p:cNvSpPr>
          <p:nvPr/>
        </p:nvSpPr>
        <p:spPr>
          <a:xfrm>
            <a:off x="7962900" y="198001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D58732-BE64-4417-B559-02858D36020F}"/>
              </a:ext>
            </a:extLst>
          </p:cNvPr>
          <p:cNvSpPr>
            <a:spLocks noGrp="1"/>
          </p:cNvSpPr>
          <p:nvPr/>
        </p:nvSpPr>
        <p:spPr>
          <a:xfrm>
            <a:off x="7962900" y="1980010"/>
            <a:ext cx="146685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DBEF39-0FD8-46C3-A913-F220EBCF903D}"/>
              </a:ext>
            </a:extLst>
          </p:cNvPr>
          <p:cNvSpPr>
            <a:spLocks noGrp="1"/>
          </p:cNvSpPr>
          <p:nvPr/>
        </p:nvSpPr>
        <p:spPr>
          <a:xfrm>
            <a:off x="8134350" y="218956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0.2406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C5ADD2-F20A-4510-8F21-F5A17DAC056C}"/>
              </a:ext>
            </a:extLst>
          </p:cNvPr>
          <p:cNvSpPr>
            <a:spLocks noGrp="1"/>
          </p:cNvSpPr>
          <p:nvPr/>
        </p:nvSpPr>
        <p:spPr>
          <a:xfrm>
            <a:off x="8134350" y="258961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nDCG@5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DA943A8-938A-427F-841D-15F8FCFF1272}"/>
              </a:ext>
            </a:extLst>
          </p:cNvPr>
          <p:cNvSpPr>
            <a:spLocks noGrp="1"/>
          </p:cNvSpPr>
          <p:nvPr/>
        </p:nvSpPr>
        <p:spPr>
          <a:xfrm>
            <a:off x="9582150" y="198001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F26BC3-36FD-4093-BF26-BBF012770145}"/>
              </a:ext>
            </a:extLst>
          </p:cNvPr>
          <p:cNvSpPr>
            <a:spLocks noGrp="1"/>
          </p:cNvSpPr>
          <p:nvPr/>
        </p:nvSpPr>
        <p:spPr>
          <a:xfrm>
            <a:off x="9582150" y="1980010"/>
            <a:ext cx="14668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8F8A09-776C-4394-B061-BCD9705460A8}"/>
              </a:ext>
            </a:extLst>
          </p:cNvPr>
          <p:cNvSpPr>
            <a:spLocks noGrp="1"/>
          </p:cNvSpPr>
          <p:nvPr/>
        </p:nvSpPr>
        <p:spPr>
          <a:xfrm>
            <a:off x="9753600" y="218956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0.3039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BD0F00-19A9-4A4B-B825-F627CC7B5D24}"/>
              </a:ext>
            </a:extLst>
          </p:cNvPr>
          <p:cNvSpPr>
            <a:spLocks noGrp="1"/>
          </p:cNvSpPr>
          <p:nvPr/>
        </p:nvSpPr>
        <p:spPr>
          <a:xfrm>
            <a:off x="9753600" y="258961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7C0AF9-1AAF-434E-A9F4-690EC4D75F4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Metrics from itemcf_output/metrics.json. Similarity function described in itemcf.ipynb.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88BEDA-59F9-BC5D-ED0B-7C52840F277A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A9F73A2-CAEE-DCA4-AB01-70AC581C1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1673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A5604-5DAC-48A7-ABA9-BD0607FE9801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lang="en-US" altLang="zh-CN" sz="1350" b="1" dirty="0">
                <a:solidFill>
                  <a:srgbClr val="4472C4"/>
                </a:solidFill>
              </a:rPr>
              <a:t>12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8A6AA-C7AD-47AD-A599-091D65ABD90B}"/>
              </a:ext>
            </a:extLst>
          </p:cNvPr>
          <p:cNvSpPr>
            <a:spLocks noGrp="1"/>
          </p:cNvSpPr>
          <p:nvPr/>
        </p:nvSpPr>
        <p:spPr>
          <a:xfrm>
            <a:off x="590550" y="7798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Logistic Regression CTR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6461D-3CF2-40CC-B689-D6AC8330848E}"/>
              </a:ext>
            </a:extLst>
          </p:cNvPr>
          <p:cNvSpPr>
            <a:spLocks noGrp="1"/>
          </p:cNvSpPr>
          <p:nvPr/>
        </p:nvSpPr>
        <p:spPr>
          <a:xfrm>
            <a:off x="609600" y="12561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A lightweight tabular CTR model adds explicit history-match, context, and metadata features.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F0A896-8A89-4387-AF8D-2808FA53823F}"/>
              </a:ext>
            </a:extLst>
          </p:cNvPr>
          <p:cNvSpPr>
            <a:spLocks noGrp="1"/>
          </p:cNvSpPr>
          <p:nvPr/>
        </p:nvSpPr>
        <p:spPr>
          <a:xfrm>
            <a:off x="609600" y="1656160"/>
            <a:ext cx="971550" cy="247650"/>
          </a:xfrm>
          <a:prstGeom prst="roundRect">
            <a:avLst>
              <a:gd name="adj" fmla="val 30769"/>
            </a:avLst>
          </a:prstGeom>
          <a:solidFill>
            <a:srgbClr val="EEF5FC"/>
          </a:solidFill>
          <a:ln w="0">
            <a:solidFill>
              <a:srgbClr val="EEF5FC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5B9BD5"/>
                </a:solidFill>
              </a:defRPr>
            </a:pPr>
            <a:r>
              <a:rPr sz="900" b="1">
                <a:solidFill>
                  <a:srgbClr val="5B9BD5"/>
                </a:solidFill>
              </a:rPr>
              <a:t>lr_ctr.ipynb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1AF96A-19FE-4289-8A80-3B3C853FE88D}"/>
              </a:ext>
            </a:extLst>
          </p:cNvPr>
          <p:cNvSpPr>
            <a:spLocks noGrp="1"/>
          </p:cNvSpPr>
          <p:nvPr/>
        </p:nvSpPr>
        <p:spPr>
          <a:xfrm>
            <a:off x="1752600" y="165616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FFF7DF"/>
          </a:solidFill>
          <a:ln w="0">
            <a:solidFill>
              <a:srgbClr val="FFF7DF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FFC000"/>
                </a:solidFill>
              </a:defRPr>
            </a:pPr>
            <a:r>
              <a:rPr sz="900" b="1">
                <a:solidFill>
                  <a:srgbClr val="FFC000"/>
                </a:solidFill>
              </a:rPr>
              <a:t>RANKING BASELINE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1F8C25-03C6-4FEF-9ED9-D937A30AE80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Metrics from lr_ctr_output/metrics.json; coefficient summary from lr_ctr_output/coefficient_importance.csv.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90643E-D63B-C5A1-CCC9-53049B81AB79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3ACAD7A-FECA-D14B-9FEB-B505717A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" name="Text 41">
            <a:extLst>
              <a:ext uri="{FF2B5EF4-FFF2-40B4-BE49-F238E27FC236}">
                <a16:creationId xmlns:a16="http://schemas.microsoft.com/office/drawing/2014/main" id="{1721B7C7-AD53-2F01-975D-D260AC2CCF20}"/>
              </a:ext>
            </a:extLst>
          </p:cNvPr>
          <p:cNvSpPr/>
          <p:nvPr/>
        </p:nvSpPr>
        <p:spPr>
          <a:xfrm>
            <a:off x="1581150" y="4798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" name="Text 46">
            <a:extLst>
              <a:ext uri="{FF2B5EF4-FFF2-40B4-BE49-F238E27FC236}">
                <a16:creationId xmlns:a16="http://schemas.microsoft.com/office/drawing/2014/main" id="{9BA291D0-ADFB-C4FA-B180-32BC3F539B26}"/>
              </a:ext>
            </a:extLst>
          </p:cNvPr>
          <p:cNvSpPr/>
          <p:nvPr/>
        </p:nvSpPr>
        <p:spPr>
          <a:xfrm>
            <a:off x="2827404" y="5411440"/>
            <a:ext cx="258470" cy="26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1" name="Shape 47">
            <a:extLst>
              <a:ext uri="{FF2B5EF4-FFF2-40B4-BE49-F238E27FC236}">
                <a16:creationId xmlns:a16="http://schemas.microsoft.com/office/drawing/2014/main" id="{28587231-4250-A484-DA94-AE506E9E175F}"/>
              </a:ext>
            </a:extLst>
          </p:cNvPr>
          <p:cNvSpPr/>
          <p:nvPr/>
        </p:nvSpPr>
        <p:spPr>
          <a:xfrm>
            <a:off x="3047238" y="5109688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8">
            <a:extLst>
              <a:ext uri="{FF2B5EF4-FFF2-40B4-BE49-F238E27FC236}">
                <a16:creationId xmlns:a16="http://schemas.microsoft.com/office/drawing/2014/main" id="{E607AF63-4EDF-FC63-8F2D-CDD14D02AF3D}"/>
              </a:ext>
            </a:extLst>
          </p:cNvPr>
          <p:cNvSpPr/>
          <p:nvPr/>
        </p:nvSpPr>
        <p:spPr>
          <a:xfrm>
            <a:off x="3047238" y="5109688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9">
            <a:extLst>
              <a:ext uri="{FF2B5EF4-FFF2-40B4-BE49-F238E27FC236}">
                <a16:creationId xmlns:a16="http://schemas.microsoft.com/office/drawing/2014/main" id="{705673BE-9066-51B9-BE0F-C5373939730D}"/>
              </a:ext>
            </a:extLst>
          </p:cNvPr>
          <p:cNvSpPr/>
          <p:nvPr/>
        </p:nvSpPr>
        <p:spPr>
          <a:xfrm>
            <a:off x="3047238" y="5146264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outputs/shared/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5.84M train / 2.74M valid</a:t>
            </a:r>
            <a:endParaRPr lang="en-US" sz="900" dirty="0"/>
          </a:p>
        </p:txBody>
      </p:sp>
      <p:sp>
        <p:nvSpPr>
          <p:cNvPr id="44" name="Text 51">
            <a:extLst>
              <a:ext uri="{FF2B5EF4-FFF2-40B4-BE49-F238E27FC236}">
                <a16:creationId xmlns:a16="http://schemas.microsoft.com/office/drawing/2014/main" id="{931B663A-A9F5-F566-FF9D-E7AD07AEC8BF}"/>
              </a:ext>
            </a:extLst>
          </p:cNvPr>
          <p:cNvSpPr/>
          <p:nvPr/>
        </p:nvSpPr>
        <p:spPr>
          <a:xfrm>
            <a:off x="4421886" y="5434300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Shape 52">
            <a:extLst>
              <a:ext uri="{FF2B5EF4-FFF2-40B4-BE49-F238E27FC236}">
                <a16:creationId xmlns:a16="http://schemas.microsoft.com/office/drawing/2014/main" id="{B0A8B1C8-4FF0-640C-1627-50D1C54046C2}"/>
              </a:ext>
            </a:extLst>
          </p:cNvPr>
          <p:cNvSpPr/>
          <p:nvPr/>
        </p:nvSpPr>
        <p:spPr>
          <a:xfrm>
            <a:off x="4522470" y="5109688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53">
            <a:extLst>
              <a:ext uri="{FF2B5EF4-FFF2-40B4-BE49-F238E27FC236}">
                <a16:creationId xmlns:a16="http://schemas.microsoft.com/office/drawing/2014/main" id="{141B9A37-0367-7383-9157-8761145CFF6B}"/>
              </a:ext>
            </a:extLst>
          </p:cNvPr>
          <p:cNvSpPr/>
          <p:nvPr/>
        </p:nvSpPr>
        <p:spPr>
          <a:xfrm>
            <a:off x="4522470" y="5109688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54">
            <a:extLst>
              <a:ext uri="{FF2B5EF4-FFF2-40B4-BE49-F238E27FC236}">
                <a16:creationId xmlns:a16="http://schemas.microsoft.com/office/drawing/2014/main" id="{4616372E-20E4-956A-74D0-D266EB110DF9}"/>
              </a:ext>
            </a:extLst>
          </p:cNvPr>
          <p:cNvSpPr/>
          <p:nvPr/>
        </p:nvSpPr>
        <p:spPr>
          <a:xfrm>
            <a:off x="4522470" y="5146264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48" name="Text 56">
            <a:extLst>
              <a:ext uri="{FF2B5EF4-FFF2-40B4-BE49-F238E27FC236}">
                <a16:creationId xmlns:a16="http://schemas.microsoft.com/office/drawing/2014/main" id="{E70DB0EE-81B8-0B5E-8520-080D2593563B}"/>
              </a:ext>
            </a:extLst>
          </p:cNvPr>
          <p:cNvSpPr/>
          <p:nvPr/>
        </p:nvSpPr>
        <p:spPr>
          <a:xfrm>
            <a:off x="5897118" y="5434300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Shape 57">
            <a:extLst>
              <a:ext uri="{FF2B5EF4-FFF2-40B4-BE49-F238E27FC236}">
                <a16:creationId xmlns:a16="http://schemas.microsoft.com/office/drawing/2014/main" id="{3C18D9BB-D78B-2766-B4F4-C575FA25D76B}"/>
              </a:ext>
            </a:extLst>
          </p:cNvPr>
          <p:cNvSpPr/>
          <p:nvPr/>
        </p:nvSpPr>
        <p:spPr>
          <a:xfrm>
            <a:off x="5997702" y="5109688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58">
            <a:extLst>
              <a:ext uri="{FF2B5EF4-FFF2-40B4-BE49-F238E27FC236}">
                <a16:creationId xmlns:a16="http://schemas.microsoft.com/office/drawing/2014/main" id="{2B06076E-961E-A173-B389-D72404BF3AC9}"/>
              </a:ext>
            </a:extLst>
          </p:cNvPr>
          <p:cNvSpPr/>
          <p:nvPr/>
        </p:nvSpPr>
        <p:spPr>
          <a:xfrm>
            <a:off x="5997702" y="5109688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9">
            <a:extLst>
              <a:ext uri="{FF2B5EF4-FFF2-40B4-BE49-F238E27FC236}">
                <a16:creationId xmlns:a16="http://schemas.microsoft.com/office/drawing/2014/main" id="{9AC8094C-E714-840E-2CEB-26F7A3E24429}"/>
              </a:ext>
            </a:extLst>
          </p:cNvPr>
          <p:cNvSpPr/>
          <p:nvPr/>
        </p:nvSpPr>
        <p:spPr>
          <a:xfrm>
            <a:off x="5997702" y="5146264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(OHE + Scaler)</a:t>
            </a:r>
            <a:endParaRPr lang="en-US" sz="900" dirty="0"/>
          </a:p>
        </p:txBody>
      </p:sp>
      <p:sp>
        <p:nvSpPr>
          <p:cNvPr id="52" name="Text 61">
            <a:extLst>
              <a:ext uri="{FF2B5EF4-FFF2-40B4-BE49-F238E27FC236}">
                <a16:creationId xmlns:a16="http://schemas.microsoft.com/office/drawing/2014/main" id="{D8AEA64B-959E-F32F-8017-CA4910F37666}"/>
              </a:ext>
            </a:extLst>
          </p:cNvPr>
          <p:cNvSpPr/>
          <p:nvPr/>
        </p:nvSpPr>
        <p:spPr>
          <a:xfrm>
            <a:off x="7372350" y="5434300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3" name="Shape 62">
            <a:extLst>
              <a:ext uri="{FF2B5EF4-FFF2-40B4-BE49-F238E27FC236}">
                <a16:creationId xmlns:a16="http://schemas.microsoft.com/office/drawing/2014/main" id="{A05AC2B3-4DF5-9675-AAB8-A6C3F61AA79E}"/>
              </a:ext>
            </a:extLst>
          </p:cNvPr>
          <p:cNvSpPr/>
          <p:nvPr/>
        </p:nvSpPr>
        <p:spPr>
          <a:xfrm>
            <a:off x="7472934" y="5109688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63">
            <a:extLst>
              <a:ext uri="{FF2B5EF4-FFF2-40B4-BE49-F238E27FC236}">
                <a16:creationId xmlns:a16="http://schemas.microsoft.com/office/drawing/2014/main" id="{FB476C79-E452-C68B-DC2B-55D05520919A}"/>
              </a:ext>
            </a:extLst>
          </p:cNvPr>
          <p:cNvSpPr/>
          <p:nvPr/>
        </p:nvSpPr>
        <p:spPr>
          <a:xfrm>
            <a:off x="7472934" y="5109688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64">
            <a:extLst>
              <a:ext uri="{FF2B5EF4-FFF2-40B4-BE49-F238E27FC236}">
                <a16:creationId xmlns:a16="http://schemas.microsoft.com/office/drawing/2014/main" id="{C7F8BF4A-D3CC-6D59-181B-2657E7AED79D}"/>
              </a:ext>
            </a:extLst>
          </p:cNvPr>
          <p:cNvSpPr/>
          <p:nvPr/>
        </p:nvSpPr>
        <p:spPr>
          <a:xfrm>
            <a:off x="7472934" y="5146264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(L2)</a:t>
            </a:r>
            <a:endParaRPr lang="en-US" sz="900" dirty="0"/>
          </a:p>
        </p:txBody>
      </p:sp>
      <p:sp>
        <p:nvSpPr>
          <p:cNvPr id="56" name="Shape 67">
            <a:extLst>
              <a:ext uri="{FF2B5EF4-FFF2-40B4-BE49-F238E27FC236}">
                <a16:creationId xmlns:a16="http://schemas.microsoft.com/office/drawing/2014/main" id="{62DBB1A6-4AE1-05A8-F870-AF463FFF444E}"/>
              </a:ext>
            </a:extLst>
          </p:cNvPr>
          <p:cNvSpPr/>
          <p:nvPr/>
        </p:nvSpPr>
        <p:spPr>
          <a:xfrm>
            <a:off x="8920734" y="5109688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68">
            <a:extLst>
              <a:ext uri="{FF2B5EF4-FFF2-40B4-BE49-F238E27FC236}">
                <a16:creationId xmlns:a16="http://schemas.microsoft.com/office/drawing/2014/main" id="{23B28DAE-6E25-9738-0169-3A64A55D24C7}"/>
              </a:ext>
            </a:extLst>
          </p:cNvPr>
          <p:cNvSpPr/>
          <p:nvPr/>
        </p:nvSpPr>
        <p:spPr>
          <a:xfrm>
            <a:off x="8920734" y="5109688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69">
            <a:extLst>
              <a:ext uri="{FF2B5EF4-FFF2-40B4-BE49-F238E27FC236}">
                <a16:creationId xmlns:a16="http://schemas.microsoft.com/office/drawing/2014/main" id="{2015F997-38F0-BA24-1D77-C57DDDC181F6}"/>
              </a:ext>
            </a:extLst>
          </p:cNvPr>
          <p:cNvSpPr/>
          <p:nvPr/>
        </p:nvSpPr>
        <p:spPr>
          <a:xfrm>
            <a:off x="8920734" y="5146264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00" dirty="0"/>
          </a:p>
        </p:txBody>
      </p:sp>
      <p:sp>
        <p:nvSpPr>
          <p:cNvPr id="59" name="Shape 42">
            <a:extLst>
              <a:ext uri="{FF2B5EF4-FFF2-40B4-BE49-F238E27FC236}">
                <a16:creationId xmlns:a16="http://schemas.microsoft.com/office/drawing/2014/main" id="{89374665-F705-ED0E-7A6C-45A79C37B541}"/>
              </a:ext>
            </a:extLst>
          </p:cNvPr>
          <p:cNvSpPr/>
          <p:nvPr/>
        </p:nvSpPr>
        <p:spPr>
          <a:xfrm>
            <a:off x="1581150" y="5111895"/>
            <a:ext cx="1274064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43">
            <a:extLst>
              <a:ext uri="{FF2B5EF4-FFF2-40B4-BE49-F238E27FC236}">
                <a16:creationId xmlns:a16="http://schemas.microsoft.com/office/drawing/2014/main" id="{7B3ECCF0-A9A0-CEC3-0469-C087BD1AD84A}"/>
              </a:ext>
            </a:extLst>
          </p:cNvPr>
          <p:cNvSpPr/>
          <p:nvPr/>
        </p:nvSpPr>
        <p:spPr>
          <a:xfrm>
            <a:off x="1581150" y="5111895"/>
            <a:ext cx="1274064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4">
            <a:extLst>
              <a:ext uri="{FF2B5EF4-FFF2-40B4-BE49-F238E27FC236}">
                <a16:creationId xmlns:a16="http://schemas.microsoft.com/office/drawing/2014/main" id="{C718C70E-0122-C41D-5FDE-36647D0D479E}"/>
              </a:ext>
            </a:extLst>
          </p:cNvPr>
          <p:cNvSpPr/>
          <p:nvPr/>
        </p:nvSpPr>
        <p:spPr>
          <a:xfrm>
            <a:off x="1581150" y="5148471"/>
            <a:ext cx="1274064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Merge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news.tsv</a:t>
            </a: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candidates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A4827A1-462A-DB1B-BED2-C666A9065B70}"/>
                  </a:ext>
                </a:extLst>
              </p:cNvPr>
              <p:cNvSpPr txBox="1"/>
              <p:nvPr/>
            </p:nvSpPr>
            <p:spPr>
              <a:xfrm>
                <a:off x="4101468" y="5355843"/>
                <a:ext cx="6239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A4827A1-462A-DB1B-BED2-C666A9065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468" y="5355843"/>
                <a:ext cx="62395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243B376-AB17-DAA6-C5DB-DCEA75165D08}"/>
                  </a:ext>
                </a:extLst>
              </p:cNvPr>
              <p:cNvSpPr txBox="1"/>
              <p:nvPr/>
            </p:nvSpPr>
            <p:spPr>
              <a:xfrm>
                <a:off x="3616321" y="5371974"/>
                <a:ext cx="457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243B376-AB17-DAA6-C5DB-DCEA75165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321" y="5371974"/>
                <a:ext cx="457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3F77B1F-4AA9-7FDF-FE9F-4F7C1BC5FAB0}"/>
                  </a:ext>
                </a:extLst>
              </p:cNvPr>
              <p:cNvSpPr txBox="1"/>
              <p:nvPr/>
            </p:nvSpPr>
            <p:spPr>
              <a:xfrm>
                <a:off x="5082409" y="5371974"/>
                <a:ext cx="457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3F77B1F-4AA9-7FDF-FE9F-4F7C1BC5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409" y="5371974"/>
                <a:ext cx="457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083F470-A7E0-B1C4-3408-1C7D0AECE63C}"/>
                  </a:ext>
                </a:extLst>
              </p:cNvPr>
              <p:cNvSpPr txBox="1"/>
              <p:nvPr/>
            </p:nvSpPr>
            <p:spPr>
              <a:xfrm>
                <a:off x="2180647" y="5379857"/>
                <a:ext cx="15503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083F470-A7E0-B1C4-3408-1C7D0AECE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647" y="5379857"/>
                <a:ext cx="15503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 15">
            <a:extLst>
              <a:ext uri="{FF2B5EF4-FFF2-40B4-BE49-F238E27FC236}">
                <a16:creationId xmlns:a16="http://schemas.microsoft.com/office/drawing/2014/main" id="{521E8C10-6B6B-C243-D7B5-59A36E33FA26}"/>
              </a:ext>
            </a:extLst>
          </p:cNvPr>
          <p:cNvSpPr/>
          <p:nvPr/>
        </p:nvSpPr>
        <p:spPr>
          <a:xfrm>
            <a:off x="6369384" y="214045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300" dirty="0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F54179B6-553B-DB5B-50F4-F2CDE0E173B9}"/>
              </a:ext>
            </a:extLst>
          </p:cNvPr>
          <p:cNvSpPr/>
          <p:nvPr/>
        </p:nvSpPr>
        <p:spPr>
          <a:xfrm>
            <a:off x="6369384" y="2433066"/>
            <a:ext cx="208483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39BBB521-FD03-C6A8-893C-8B534CE1CE5F}"/>
              </a:ext>
            </a:extLst>
          </p:cNvPr>
          <p:cNvSpPr/>
          <p:nvPr/>
        </p:nvSpPr>
        <p:spPr>
          <a:xfrm>
            <a:off x="6369384" y="2433066"/>
            <a:ext cx="2084832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178B1FC2-9AE0-BC89-9F68-0A114DDFAB4A}"/>
              </a:ext>
            </a:extLst>
          </p:cNvPr>
          <p:cNvSpPr/>
          <p:nvPr/>
        </p:nvSpPr>
        <p:spPr>
          <a:xfrm>
            <a:off x="6460824" y="248793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👤 User History</a:t>
            </a:r>
            <a:endParaRPr lang="en-US" sz="950" dirty="0"/>
          </a:p>
        </p:txBody>
      </p:sp>
      <p:sp>
        <p:nvSpPr>
          <p:cNvPr id="70" name="Shape 19">
            <a:extLst>
              <a:ext uri="{FF2B5EF4-FFF2-40B4-BE49-F238E27FC236}">
                <a16:creationId xmlns:a16="http://schemas.microsoft.com/office/drawing/2014/main" id="{2431E7F6-CFE5-1DEB-C544-F41C632B4275}"/>
              </a:ext>
            </a:extLst>
          </p:cNvPr>
          <p:cNvSpPr/>
          <p:nvPr/>
        </p:nvSpPr>
        <p:spPr>
          <a:xfrm>
            <a:off x="6442536" y="2725674"/>
            <a:ext cx="193852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4433870B-DA77-1499-119F-C7218BE4EE06}"/>
              </a:ext>
            </a:extLst>
          </p:cNvPr>
          <p:cNvSpPr/>
          <p:nvPr/>
        </p:nvSpPr>
        <p:spPr>
          <a:xfrm>
            <a:off x="6479112" y="276225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history_len</a:t>
            </a:r>
            <a:endParaRPr lang="en-US" sz="90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94C8550D-5B36-6759-6396-0E0C82FD60C5}"/>
              </a:ext>
            </a:extLst>
          </p:cNvPr>
          <p:cNvSpPr/>
          <p:nvPr/>
        </p:nvSpPr>
        <p:spPr>
          <a:xfrm>
            <a:off x="6479112" y="303657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history_unique_len</a:t>
            </a:r>
            <a:endParaRPr lang="en-US" sz="9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94AE8B14-3327-53A7-C807-317CC38753F2}"/>
              </a:ext>
            </a:extLst>
          </p:cNvPr>
          <p:cNvSpPr/>
          <p:nvPr/>
        </p:nvSpPr>
        <p:spPr>
          <a:xfrm>
            <a:off x="8582232" y="2433066"/>
            <a:ext cx="208483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0859B241-3DDC-1615-D4EE-E66F0B844B7E}"/>
              </a:ext>
            </a:extLst>
          </p:cNvPr>
          <p:cNvSpPr/>
          <p:nvPr/>
        </p:nvSpPr>
        <p:spPr>
          <a:xfrm>
            <a:off x="8582232" y="2433066"/>
            <a:ext cx="2084832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D5A2E066-618E-EB82-B85A-2F3271ACE541}"/>
              </a:ext>
            </a:extLst>
          </p:cNvPr>
          <p:cNvSpPr/>
          <p:nvPr/>
        </p:nvSpPr>
        <p:spPr>
          <a:xfrm>
            <a:off x="8673672" y="248793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🔗 History–Match</a:t>
            </a:r>
            <a:endParaRPr lang="en-US" sz="950" dirty="0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E7A55577-58B8-24E1-FB37-4AA9749F6E3E}"/>
              </a:ext>
            </a:extLst>
          </p:cNvPr>
          <p:cNvSpPr/>
          <p:nvPr/>
        </p:nvSpPr>
        <p:spPr>
          <a:xfrm>
            <a:off x="8655384" y="2725674"/>
            <a:ext cx="193852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DF6A6DF4-DB95-2002-CDB4-0ACF9ACDED25}"/>
              </a:ext>
            </a:extLst>
          </p:cNvPr>
          <p:cNvSpPr/>
          <p:nvPr/>
        </p:nvSpPr>
        <p:spPr>
          <a:xfrm>
            <a:off x="8691960" y="276225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same_category_count / ratio</a:t>
            </a:r>
            <a:endParaRPr lang="en-US" sz="900" dirty="0"/>
          </a:p>
        </p:txBody>
      </p:sp>
      <p:sp>
        <p:nvSpPr>
          <p:cNvPr id="78" name="Text 27">
            <a:extLst>
              <a:ext uri="{FF2B5EF4-FFF2-40B4-BE49-F238E27FC236}">
                <a16:creationId xmlns:a16="http://schemas.microsoft.com/office/drawing/2014/main" id="{E50758AE-6A7C-EF14-F014-BBD9A27A7121}"/>
              </a:ext>
            </a:extLst>
          </p:cNvPr>
          <p:cNvSpPr/>
          <p:nvPr/>
        </p:nvSpPr>
        <p:spPr>
          <a:xfrm>
            <a:off x="8691960" y="303657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same_subcategory_count / ratio</a:t>
            </a:r>
            <a:endParaRPr lang="en-US" sz="900" dirty="0"/>
          </a:p>
        </p:txBody>
      </p:sp>
      <p:sp>
        <p:nvSpPr>
          <p:cNvPr id="79" name="Shape 28">
            <a:extLst>
              <a:ext uri="{FF2B5EF4-FFF2-40B4-BE49-F238E27FC236}">
                <a16:creationId xmlns:a16="http://schemas.microsoft.com/office/drawing/2014/main" id="{14AEA9DD-71F5-03EF-1E94-8472D2C885FA}"/>
              </a:ext>
            </a:extLst>
          </p:cNvPr>
          <p:cNvSpPr/>
          <p:nvPr/>
        </p:nvSpPr>
        <p:spPr>
          <a:xfrm>
            <a:off x="6369384" y="3548634"/>
            <a:ext cx="208483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C582D25C-F883-C451-F31A-987B0A19E9A8}"/>
              </a:ext>
            </a:extLst>
          </p:cNvPr>
          <p:cNvSpPr/>
          <p:nvPr/>
        </p:nvSpPr>
        <p:spPr>
          <a:xfrm>
            <a:off x="6369384" y="3548634"/>
            <a:ext cx="2084832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0C7A09FA-2CC6-36AB-9BF1-2169034E1214}"/>
              </a:ext>
            </a:extLst>
          </p:cNvPr>
          <p:cNvSpPr/>
          <p:nvPr/>
        </p:nvSpPr>
        <p:spPr>
          <a:xfrm>
            <a:off x="6460824" y="360349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⏰ Context</a:t>
            </a:r>
            <a:endParaRPr lang="en-US" sz="950" dirty="0"/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AAA1F1A6-D740-CEDE-0D7D-DA560CD3F8DE}"/>
              </a:ext>
            </a:extLst>
          </p:cNvPr>
          <p:cNvSpPr/>
          <p:nvPr/>
        </p:nvSpPr>
        <p:spPr>
          <a:xfrm>
            <a:off x="6442536" y="3841242"/>
            <a:ext cx="193852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D125D258-A18E-D87F-8E82-CC7D9CA4F2E3}"/>
              </a:ext>
            </a:extLst>
          </p:cNvPr>
          <p:cNvSpPr/>
          <p:nvPr/>
        </p:nvSpPr>
        <p:spPr>
          <a:xfrm>
            <a:off x="6479112" y="387781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900" dirty="0"/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EC6FBEE5-A1D9-8AB0-AF76-92856A0AF4E2}"/>
              </a:ext>
            </a:extLst>
          </p:cNvPr>
          <p:cNvSpPr/>
          <p:nvPr/>
        </p:nvSpPr>
        <p:spPr>
          <a:xfrm>
            <a:off x="6479112" y="4060697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900" dirty="0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B882076C-BE9E-0989-91B4-99F2B88FA117}"/>
              </a:ext>
            </a:extLst>
          </p:cNvPr>
          <p:cNvSpPr/>
          <p:nvPr/>
        </p:nvSpPr>
        <p:spPr>
          <a:xfrm>
            <a:off x="6479112" y="425157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900" dirty="0"/>
          </a:p>
        </p:txBody>
      </p:sp>
      <p:sp>
        <p:nvSpPr>
          <p:cNvPr id="86" name="Shape 35">
            <a:extLst>
              <a:ext uri="{FF2B5EF4-FFF2-40B4-BE49-F238E27FC236}">
                <a16:creationId xmlns:a16="http://schemas.microsoft.com/office/drawing/2014/main" id="{47352639-124E-15F5-445D-260F451770FF}"/>
              </a:ext>
            </a:extLst>
          </p:cNvPr>
          <p:cNvSpPr/>
          <p:nvPr/>
        </p:nvSpPr>
        <p:spPr>
          <a:xfrm>
            <a:off x="8582232" y="3548634"/>
            <a:ext cx="2084832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36">
            <a:extLst>
              <a:ext uri="{FF2B5EF4-FFF2-40B4-BE49-F238E27FC236}">
                <a16:creationId xmlns:a16="http://schemas.microsoft.com/office/drawing/2014/main" id="{05C6BF02-9CB9-BD40-B10C-34AFE7B2F1EF}"/>
              </a:ext>
            </a:extLst>
          </p:cNvPr>
          <p:cNvSpPr/>
          <p:nvPr/>
        </p:nvSpPr>
        <p:spPr>
          <a:xfrm>
            <a:off x="8582232" y="3548634"/>
            <a:ext cx="2084832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B3F52ABC-F231-3D6E-70FB-B69777AF32F5}"/>
              </a:ext>
            </a:extLst>
          </p:cNvPr>
          <p:cNvSpPr/>
          <p:nvPr/>
        </p:nvSpPr>
        <p:spPr>
          <a:xfrm>
            <a:off x="8673672" y="360349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📰 Candidate News</a:t>
            </a:r>
            <a:endParaRPr lang="en-US" sz="950" dirty="0"/>
          </a:p>
        </p:txBody>
      </p:sp>
      <p:sp>
        <p:nvSpPr>
          <p:cNvPr id="89" name="Shape 38">
            <a:extLst>
              <a:ext uri="{FF2B5EF4-FFF2-40B4-BE49-F238E27FC236}">
                <a16:creationId xmlns:a16="http://schemas.microsoft.com/office/drawing/2014/main" id="{1060E19B-4286-072C-36CB-BD5BF2AC6445}"/>
              </a:ext>
            </a:extLst>
          </p:cNvPr>
          <p:cNvSpPr/>
          <p:nvPr/>
        </p:nvSpPr>
        <p:spPr>
          <a:xfrm>
            <a:off x="8655384" y="3841242"/>
            <a:ext cx="193852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39">
            <a:extLst>
              <a:ext uri="{FF2B5EF4-FFF2-40B4-BE49-F238E27FC236}">
                <a16:creationId xmlns:a16="http://schemas.microsoft.com/office/drawing/2014/main" id="{9B48CCD1-854D-6AB3-E6DA-CB97747E7CE2}"/>
              </a:ext>
            </a:extLst>
          </p:cNvPr>
          <p:cNvSpPr/>
          <p:nvPr/>
        </p:nvSpPr>
        <p:spPr>
          <a:xfrm>
            <a:off x="8691960" y="387781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subcategory (OHE)</a:t>
            </a:r>
            <a:endParaRPr lang="en-US" sz="900" dirty="0"/>
          </a:p>
        </p:txBody>
      </p:sp>
      <p:sp>
        <p:nvSpPr>
          <p:cNvPr id="91" name="Text 40">
            <a:extLst>
              <a:ext uri="{FF2B5EF4-FFF2-40B4-BE49-F238E27FC236}">
                <a16:creationId xmlns:a16="http://schemas.microsoft.com/office/drawing/2014/main" id="{E5280BF4-F2DC-9B6B-B9AB-E481466F50AC}"/>
              </a:ext>
            </a:extLst>
          </p:cNvPr>
          <p:cNvSpPr/>
          <p:nvPr/>
        </p:nvSpPr>
        <p:spPr>
          <a:xfrm>
            <a:off x="8691960" y="415213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abstract word/char count</a:t>
            </a:r>
            <a:endParaRPr lang="en-US" sz="900" dirty="0"/>
          </a:p>
        </p:txBody>
      </p:sp>
      <p:sp>
        <p:nvSpPr>
          <p:cNvPr id="92" name="Shape 5">
            <a:extLst>
              <a:ext uri="{FF2B5EF4-FFF2-40B4-BE49-F238E27FC236}">
                <a16:creationId xmlns:a16="http://schemas.microsoft.com/office/drawing/2014/main" id="{6E440983-402D-73CF-9263-DA5034D33289}"/>
              </a:ext>
            </a:extLst>
          </p:cNvPr>
          <p:cNvSpPr/>
          <p:nvPr/>
        </p:nvSpPr>
        <p:spPr>
          <a:xfrm>
            <a:off x="761606" y="2495152"/>
            <a:ext cx="4160520" cy="14516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6">
            <a:extLst>
              <a:ext uri="{FF2B5EF4-FFF2-40B4-BE49-F238E27FC236}">
                <a16:creationId xmlns:a16="http://schemas.microsoft.com/office/drawing/2014/main" id="{DD2E36FC-023F-4D61-9AD9-2A6CEED61BDF}"/>
              </a:ext>
            </a:extLst>
          </p:cNvPr>
          <p:cNvSpPr/>
          <p:nvPr/>
        </p:nvSpPr>
        <p:spPr>
          <a:xfrm>
            <a:off x="761606" y="2495152"/>
            <a:ext cx="91440" cy="145161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7">
            <a:extLst>
              <a:ext uri="{FF2B5EF4-FFF2-40B4-BE49-F238E27FC236}">
                <a16:creationId xmlns:a16="http://schemas.microsoft.com/office/drawing/2014/main" id="{0CD17B47-C3DF-DDE5-32FF-A8129AFB9C76}"/>
              </a:ext>
            </a:extLst>
          </p:cNvPr>
          <p:cNvSpPr/>
          <p:nvPr/>
        </p:nvSpPr>
        <p:spPr>
          <a:xfrm>
            <a:off x="781050" y="214996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Formulation</a:t>
            </a:r>
            <a:endParaRPr lang="en-US" sz="1300" dirty="0"/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C2E2DE35-B9CC-E253-36AA-4CD4EE09D934}"/>
              </a:ext>
            </a:extLst>
          </p:cNvPr>
          <p:cNvSpPr/>
          <p:nvPr/>
        </p:nvSpPr>
        <p:spPr>
          <a:xfrm>
            <a:off x="926198" y="2566017"/>
            <a:ext cx="39056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click probability for each (user, candidate news) pair. </a:t>
            </a:r>
          </a:p>
          <a:p>
            <a:endParaRPr lang="en-US" sz="5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content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signals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encoded as a feature vector; </a:t>
            </a:r>
          </a:p>
          <a:p>
            <a:endParaRPr lang="en-US" sz="5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a linear decision boundary to score each candidate. Final ranking is by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click probability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6" name="Shape 9">
            <a:extLst>
              <a:ext uri="{FF2B5EF4-FFF2-40B4-BE49-F238E27FC236}">
                <a16:creationId xmlns:a16="http://schemas.microsoft.com/office/drawing/2014/main" id="{D7BEA16F-DE6E-34DD-BE0A-5CFF5CE24DA8}"/>
              </a:ext>
            </a:extLst>
          </p:cNvPr>
          <p:cNvSpPr/>
          <p:nvPr/>
        </p:nvSpPr>
        <p:spPr>
          <a:xfrm>
            <a:off x="743318" y="4194272"/>
            <a:ext cx="1344168" cy="310896"/>
          </a:xfrm>
          <a:prstGeom prst="roundRect">
            <a:avLst>
              <a:gd name="adj" fmla="val 2058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0">
            <a:extLst>
              <a:ext uri="{FF2B5EF4-FFF2-40B4-BE49-F238E27FC236}">
                <a16:creationId xmlns:a16="http://schemas.microsoft.com/office/drawing/2014/main" id="{626E33A3-4CED-7897-6205-60AD631B0F17}"/>
              </a:ext>
            </a:extLst>
          </p:cNvPr>
          <p:cNvSpPr/>
          <p:nvPr/>
        </p:nvSpPr>
        <p:spPr>
          <a:xfrm>
            <a:off x="743318" y="419427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</a:rPr>
              <a:t>⚡ Efficient Training</a:t>
            </a:r>
            <a:endParaRPr lang="en-US" sz="1050" dirty="0"/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084A3BE8-712F-99F7-1D7F-73ECEB04C6AF}"/>
              </a:ext>
            </a:extLst>
          </p:cNvPr>
          <p:cNvSpPr/>
          <p:nvPr/>
        </p:nvSpPr>
        <p:spPr>
          <a:xfrm>
            <a:off x="2160638" y="4194272"/>
            <a:ext cx="1344168" cy="310896"/>
          </a:xfrm>
          <a:prstGeom prst="roundRect">
            <a:avLst>
              <a:gd name="adj" fmla="val 2058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12">
            <a:extLst>
              <a:ext uri="{FF2B5EF4-FFF2-40B4-BE49-F238E27FC236}">
                <a16:creationId xmlns:a16="http://schemas.microsoft.com/office/drawing/2014/main" id="{8E7C7A3A-A51A-C262-0595-3F04D7B4E7C1}"/>
              </a:ext>
            </a:extLst>
          </p:cNvPr>
          <p:cNvSpPr/>
          <p:nvPr/>
        </p:nvSpPr>
        <p:spPr>
          <a:xfrm>
            <a:off x="2160638" y="419427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🔍 Interpretable</a:t>
            </a:r>
            <a:endParaRPr lang="en-US" sz="1050" dirty="0"/>
          </a:p>
        </p:txBody>
      </p:sp>
      <p:sp>
        <p:nvSpPr>
          <p:cNvPr id="100" name="Shape 13">
            <a:extLst>
              <a:ext uri="{FF2B5EF4-FFF2-40B4-BE49-F238E27FC236}">
                <a16:creationId xmlns:a16="http://schemas.microsoft.com/office/drawing/2014/main" id="{4FB4B51C-BC29-E2F8-72CF-B3DADD1EEA2F}"/>
              </a:ext>
            </a:extLst>
          </p:cNvPr>
          <p:cNvSpPr/>
          <p:nvPr/>
        </p:nvSpPr>
        <p:spPr>
          <a:xfrm>
            <a:off x="3577958" y="4194272"/>
            <a:ext cx="1344168" cy="310896"/>
          </a:xfrm>
          <a:prstGeom prst="roundRect">
            <a:avLst>
              <a:gd name="adj" fmla="val 2058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14">
            <a:extLst>
              <a:ext uri="{FF2B5EF4-FFF2-40B4-BE49-F238E27FC236}">
                <a16:creationId xmlns:a16="http://schemas.microsoft.com/office/drawing/2014/main" id="{27F72F99-449C-E578-2A1C-ECFDE554DFDE}"/>
              </a:ext>
            </a:extLst>
          </p:cNvPr>
          <p:cNvSpPr/>
          <p:nvPr/>
        </p:nvSpPr>
        <p:spPr>
          <a:xfrm>
            <a:off x="3577958" y="4194272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📐 Great Baseline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1481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314053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95524-ED4B-466B-BEAD-72DD96D83BC9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1</a:t>
            </a:r>
            <a:r>
              <a:rPr lang="en-US" altLang="zh-CN" sz="1350" b="1" dirty="0">
                <a:solidFill>
                  <a:srgbClr val="4472C4"/>
                </a:solidFill>
              </a:rPr>
              <a:t>3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8CC7D-8499-4539-AC7D-072C1507AD0C}"/>
              </a:ext>
            </a:extLst>
          </p:cNvPr>
          <p:cNvSpPr>
            <a:spLocks noGrp="1"/>
          </p:cNvSpPr>
          <p:nvPr/>
        </p:nvSpPr>
        <p:spPr>
          <a:xfrm>
            <a:off x="590550" y="78224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Logistic Regression Results &amp; Findings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53E00-3820-42F0-B142-5334176A205F}"/>
              </a:ext>
            </a:extLst>
          </p:cNvPr>
          <p:cNvSpPr>
            <a:spLocks noGrp="1"/>
          </p:cNvSpPr>
          <p:nvPr/>
        </p:nvSpPr>
        <p:spPr>
          <a:xfrm>
            <a:off x="609600" y="125849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These details come from the separate lr_ctr_baseline.pptx and strengthen the LR interpretation section.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185FBE-9309-41E6-B98A-E4BD21DBF986}"/>
              </a:ext>
            </a:extLst>
          </p:cNvPr>
          <p:cNvSpPr>
            <a:spLocks noGrp="1"/>
          </p:cNvSpPr>
          <p:nvPr/>
        </p:nvSpPr>
        <p:spPr>
          <a:xfrm>
            <a:off x="601621" y="4685547"/>
            <a:ext cx="3028950" cy="1688534"/>
          </a:xfrm>
          <a:prstGeom prst="roundRect">
            <a:avLst>
              <a:gd name="adj" fmla="val 3774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9C9B7F-1557-4D2E-B6FE-681E4BBFAC27}"/>
              </a:ext>
            </a:extLst>
          </p:cNvPr>
          <p:cNvSpPr>
            <a:spLocks noGrp="1"/>
          </p:cNvSpPr>
          <p:nvPr/>
        </p:nvSpPr>
        <p:spPr>
          <a:xfrm>
            <a:off x="773071" y="4818897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TOP POSITIVE COEFFICIENTS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FEF96A-FA09-46CB-8B1C-A667486A73B2}"/>
              </a:ext>
            </a:extLst>
          </p:cNvPr>
          <p:cNvSpPr>
            <a:spLocks noGrp="1"/>
          </p:cNvSpPr>
          <p:nvPr/>
        </p:nvSpPr>
        <p:spPr>
          <a:xfrm>
            <a:off x="773071" y="5104647"/>
            <a:ext cx="2686050" cy="12799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sports_news +1.54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topnews +0.98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musicnews +0.87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music-celebrity +0.76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finance-companies +0.73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newsopinion +0.68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AE17AC7-4A29-48E4-953A-9A67CEB78AF6}"/>
              </a:ext>
            </a:extLst>
          </p:cNvPr>
          <p:cNvSpPr>
            <a:spLocks noGrp="1"/>
          </p:cNvSpPr>
          <p:nvPr/>
        </p:nvSpPr>
        <p:spPr>
          <a:xfrm>
            <a:off x="3821071" y="4685547"/>
            <a:ext cx="2952750" cy="1688534"/>
          </a:xfrm>
          <a:prstGeom prst="roundRect">
            <a:avLst>
              <a:gd name="adj" fmla="val 3774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439FCA-3B18-4CF9-9419-971BA1CB6195}"/>
              </a:ext>
            </a:extLst>
          </p:cNvPr>
          <p:cNvSpPr>
            <a:spLocks noGrp="1"/>
          </p:cNvSpPr>
          <p:nvPr/>
        </p:nvSpPr>
        <p:spPr>
          <a:xfrm>
            <a:off x="3992521" y="4818897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TOP NEGATIVE COEFFICIENTS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93A2C-610A-424D-9E1E-34079114E06A}"/>
              </a:ext>
            </a:extLst>
          </p:cNvPr>
          <p:cNvSpPr>
            <a:spLocks noGrp="1"/>
          </p:cNvSpPr>
          <p:nvPr/>
        </p:nvSpPr>
        <p:spPr>
          <a:xfrm>
            <a:off x="3992521" y="5104647"/>
            <a:ext cx="26098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tv-gallery -0.76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abstract_char_count -0.76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football_nfl_videos -1.01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music-gallery -1.14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D036BBE-86D6-4B0C-93CD-FAE22F2055ED}"/>
              </a:ext>
            </a:extLst>
          </p:cNvPr>
          <p:cNvSpPr>
            <a:spLocks noGrp="1"/>
          </p:cNvSpPr>
          <p:nvPr/>
        </p:nvSpPr>
        <p:spPr>
          <a:xfrm>
            <a:off x="7124700" y="2891848"/>
            <a:ext cx="42291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F64D94-87F7-4AE6-8168-CA357492A511}"/>
              </a:ext>
            </a:extLst>
          </p:cNvPr>
          <p:cNvSpPr>
            <a:spLocks noGrp="1"/>
          </p:cNvSpPr>
          <p:nvPr/>
        </p:nvSpPr>
        <p:spPr>
          <a:xfrm>
            <a:off x="7296150" y="3025198"/>
            <a:ext cx="3886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KEY FINDINGS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DF2A57-DF03-4AB5-8F37-97C5EC1187DE}"/>
              </a:ext>
            </a:extLst>
          </p:cNvPr>
          <p:cNvSpPr>
            <a:spLocks noGrp="1"/>
          </p:cNvSpPr>
          <p:nvPr/>
        </p:nvSpPr>
        <p:spPr>
          <a:xfrm>
            <a:off x="7296150" y="3310948"/>
            <a:ext cx="388620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Simple tabular features already capture effective click signals: LR reaches AUC 0.6112 without text embeddings.</a:t>
            </a:r>
          </a:p>
          <a:p>
            <a:endParaRPr sz="1200" b="0">
              <a:solidFill>
                <a:srgbClr val="44546A"/>
              </a:solidFill>
            </a:endParaRP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Subcategory features dominate the linear model, with sports_news and topnews as strong positives while music-gallery and football_nfl_videos are strong negatives.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62B97F7-1DC6-4234-9DD3-0D7D6E84D2A4}"/>
              </a:ext>
            </a:extLst>
          </p:cNvPr>
          <p:cNvSpPr>
            <a:spLocks noGrp="1"/>
          </p:cNvSpPr>
          <p:nvPr/>
        </p:nvSpPr>
        <p:spPr>
          <a:xfrm>
            <a:off x="7124700" y="5215948"/>
            <a:ext cx="4229100" cy="1143000"/>
          </a:xfrm>
          <a:prstGeom prst="roundRect">
            <a:avLst>
              <a:gd name="adj" fmla="val 6667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C1D7D5-16F1-4CB6-A4AE-EE2D15BDCFC5}"/>
              </a:ext>
            </a:extLst>
          </p:cNvPr>
          <p:cNvSpPr>
            <a:spLocks noGrp="1"/>
          </p:cNvSpPr>
          <p:nvPr/>
        </p:nvSpPr>
        <p:spPr>
          <a:xfrm>
            <a:off x="7296150" y="5349298"/>
            <a:ext cx="3886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TUNING TAKEAWAY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96F3BC-2D5E-4E8C-A849-ED75C45FC502}"/>
              </a:ext>
            </a:extLst>
          </p:cNvPr>
          <p:cNvSpPr>
            <a:spLocks noGrp="1"/>
          </p:cNvSpPr>
          <p:nvPr/>
        </p:nvSpPr>
        <p:spPr>
          <a:xfrm>
            <a:off x="7296150" y="5635048"/>
            <a:ext cx="38862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 dirty="0">
                <a:solidFill>
                  <a:srgbClr val="44546A"/>
                </a:solidFill>
              </a:rPr>
              <a:t>The separate LR baseline slide deck reports that tuning around C=0.1 only produced marginal gains. The bottleneck is </a:t>
            </a:r>
            <a:r>
              <a:rPr lang="en-US" sz="1200" b="0" dirty="0">
                <a:solidFill>
                  <a:srgbClr val="44546A"/>
                </a:solidFill>
              </a:rPr>
              <a:t>featuring</a:t>
            </a:r>
            <a:r>
              <a:rPr sz="1200" b="0" dirty="0">
                <a:solidFill>
                  <a:srgbClr val="44546A"/>
                </a:solidFill>
              </a:rPr>
              <a:t> expressiveness rather than regularization strength.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9810F3-1085-4733-A454-155B80AAA87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Added from lr_ctr_baseline.pptx: task formulation, pipeline summary, coefficient highlights, and key LR takeaways.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41B6FF-62CE-A861-0820-93F5DB4B98D9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757842F-3D78-953D-CDDB-BA549EA71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7969C6-B8CA-3DF3-54FC-20479BAEB59D}"/>
              </a:ext>
            </a:extLst>
          </p:cNvPr>
          <p:cNvSpPr>
            <a:spLocks noGrp="1"/>
          </p:cNvSpPr>
          <p:nvPr/>
        </p:nvSpPr>
        <p:spPr>
          <a:xfrm>
            <a:off x="609600" y="1656160"/>
            <a:ext cx="971550" cy="247650"/>
          </a:xfrm>
          <a:prstGeom prst="roundRect">
            <a:avLst>
              <a:gd name="adj" fmla="val 30769"/>
            </a:avLst>
          </a:prstGeom>
          <a:solidFill>
            <a:srgbClr val="EEF5FC"/>
          </a:solidFill>
          <a:ln w="0">
            <a:solidFill>
              <a:srgbClr val="EEF5FC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5B9BD5"/>
                </a:solidFill>
              </a:defRPr>
            </a:pPr>
            <a:r>
              <a:rPr sz="900" b="1">
                <a:solidFill>
                  <a:srgbClr val="5B9BD5"/>
                </a:solidFill>
              </a:rPr>
              <a:t>lr_ctr.ipynb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84C710-B492-8C26-AB92-6298A3026886}"/>
              </a:ext>
            </a:extLst>
          </p:cNvPr>
          <p:cNvSpPr>
            <a:spLocks noGrp="1"/>
          </p:cNvSpPr>
          <p:nvPr/>
        </p:nvSpPr>
        <p:spPr>
          <a:xfrm>
            <a:off x="1752600" y="165616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FFF7DF"/>
          </a:solidFill>
          <a:ln w="0">
            <a:solidFill>
              <a:srgbClr val="FFF7DF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FFC000"/>
                </a:solidFill>
              </a:defRPr>
            </a:pPr>
            <a:r>
              <a:rPr sz="900" b="1">
                <a:solidFill>
                  <a:srgbClr val="FFC000"/>
                </a:solidFill>
              </a:rPr>
              <a:t>RANKING BASELINE</a:t>
            </a: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B38E469C-C915-F9C4-1FBE-4B08BDB0C020}"/>
              </a:ext>
            </a:extLst>
          </p:cNvPr>
          <p:cNvSpPr/>
          <p:nvPr/>
        </p:nvSpPr>
        <p:spPr>
          <a:xfrm>
            <a:off x="668592" y="2537961"/>
            <a:ext cx="4575093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D2970E77-3BC0-A0B6-FD6A-2F81A6F19865}"/>
              </a:ext>
            </a:extLst>
          </p:cNvPr>
          <p:cNvSpPr/>
          <p:nvPr/>
        </p:nvSpPr>
        <p:spPr>
          <a:xfrm>
            <a:off x="3334227" y="2611113"/>
            <a:ext cx="0" cy="1517904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3E39E9B8-6CE9-27AB-94E6-E36C4D5C7792}"/>
              </a:ext>
            </a:extLst>
          </p:cNvPr>
          <p:cNvSpPr/>
          <p:nvPr/>
        </p:nvSpPr>
        <p:spPr>
          <a:xfrm>
            <a:off x="3334227" y="2625286"/>
            <a:ext cx="1591551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3789ED08-0AF8-DE2B-AA9F-32162072DB21}"/>
              </a:ext>
            </a:extLst>
          </p:cNvPr>
          <p:cNvSpPr/>
          <p:nvPr/>
        </p:nvSpPr>
        <p:spPr>
          <a:xfrm>
            <a:off x="499587" y="2614913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sports_news</a:t>
            </a:r>
            <a:endParaRPr lang="en-US" sz="72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C7A34CF4-618B-E528-BF6B-C80B5E55A87F}"/>
              </a:ext>
            </a:extLst>
          </p:cNvPr>
          <p:cNvSpPr/>
          <p:nvPr/>
        </p:nvSpPr>
        <p:spPr>
          <a:xfrm>
            <a:off x="4953210" y="2611113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</a:t>
            </a:r>
            <a:endParaRPr lang="en-US" sz="7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3D59C4BC-CC65-BCE6-9B5F-A830AF87734E}"/>
              </a:ext>
            </a:extLst>
          </p:cNvPr>
          <p:cNvSpPr/>
          <p:nvPr/>
        </p:nvSpPr>
        <p:spPr>
          <a:xfrm>
            <a:off x="3334227" y="2777077"/>
            <a:ext cx="1014451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1463527C-0D7F-2CA6-0D5D-68071D39CB30}"/>
              </a:ext>
            </a:extLst>
          </p:cNvPr>
          <p:cNvSpPr/>
          <p:nvPr/>
        </p:nvSpPr>
        <p:spPr>
          <a:xfrm>
            <a:off x="463011" y="2762903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topnews</a:t>
            </a:r>
            <a:endParaRPr lang="en-US" sz="72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95F683DF-1CE0-0A55-A646-C7295AA53B19}"/>
              </a:ext>
            </a:extLst>
          </p:cNvPr>
          <p:cNvSpPr/>
          <p:nvPr/>
        </p:nvSpPr>
        <p:spPr>
          <a:xfrm>
            <a:off x="4376110" y="2762903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7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0A450B81-0595-48D5-D3F4-DC936CBE70E0}"/>
              </a:ext>
            </a:extLst>
          </p:cNvPr>
          <p:cNvSpPr/>
          <p:nvPr/>
        </p:nvSpPr>
        <p:spPr>
          <a:xfrm>
            <a:off x="3334227" y="2928867"/>
            <a:ext cx="898700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98C8765-2B6A-C77B-DADB-370D98353D53}"/>
              </a:ext>
            </a:extLst>
          </p:cNvPr>
          <p:cNvSpPr/>
          <p:nvPr/>
        </p:nvSpPr>
        <p:spPr>
          <a:xfrm>
            <a:off x="463011" y="2914694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musicnews</a:t>
            </a:r>
            <a:endParaRPr lang="en-US" sz="72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2F8F0C90-D7C1-9B16-01A2-64D064F72D11}"/>
              </a:ext>
            </a:extLst>
          </p:cNvPr>
          <p:cNvSpPr/>
          <p:nvPr/>
        </p:nvSpPr>
        <p:spPr>
          <a:xfrm>
            <a:off x="4260359" y="2914694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7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8C13D3D4-D928-7AB6-7B85-FC6CE45E153F}"/>
              </a:ext>
            </a:extLst>
          </p:cNvPr>
          <p:cNvSpPr/>
          <p:nvPr/>
        </p:nvSpPr>
        <p:spPr>
          <a:xfrm>
            <a:off x="3334227" y="3080657"/>
            <a:ext cx="786983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AB51779D-64D5-973A-BC3C-F9BF9B47A9DD}"/>
              </a:ext>
            </a:extLst>
          </p:cNvPr>
          <p:cNvSpPr/>
          <p:nvPr/>
        </p:nvSpPr>
        <p:spPr>
          <a:xfrm>
            <a:off x="463011" y="3066484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music-celebrity</a:t>
            </a:r>
            <a:endParaRPr lang="en-US" sz="72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C04D79DC-1138-2371-9043-8CC3885E73E3}"/>
              </a:ext>
            </a:extLst>
          </p:cNvPr>
          <p:cNvSpPr/>
          <p:nvPr/>
        </p:nvSpPr>
        <p:spPr>
          <a:xfrm>
            <a:off x="4148642" y="3066484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700" dirty="0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CEB56FE4-8E41-B426-938B-6BB9D4A2C805}"/>
              </a:ext>
            </a:extLst>
          </p:cNvPr>
          <p:cNvSpPr/>
          <p:nvPr/>
        </p:nvSpPr>
        <p:spPr>
          <a:xfrm>
            <a:off x="3334227" y="3232448"/>
            <a:ext cx="757295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99E65C95-759D-2EDC-74EE-C30040D90B2A}"/>
              </a:ext>
            </a:extLst>
          </p:cNvPr>
          <p:cNvSpPr/>
          <p:nvPr/>
        </p:nvSpPr>
        <p:spPr>
          <a:xfrm>
            <a:off x="463011" y="3218275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finance-companies</a:t>
            </a:r>
            <a:endParaRPr lang="en-US" sz="72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380F5F52-7C21-48D8-444C-FE681B8E6FD9}"/>
              </a:ext>
            </a:extLst>
          </p:cNvPr>
          <p:cNvSpPr/>
          <p:nvPr/>
        </p:nvSpPr>
        <p:spPr>
          <a:xfrm>
            <a:off x="4118954" y="3218275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70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76169D4-846D-148C-AEAF-2AD7E81F8A92}"/>
              </a:ext>
            </a:extLst>
          </p:cNvPr>
          <p:cNvSpPr/>
          <p:nvPr/>
        </p:nvSpPr>
        <p:spPr>
          <a:xfrm>
            <a:off x="3334227" y="3384238"/>
            <a:ext cx="699058" cy="12344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0DE3AF13-5474-1E88-6577-7A5EC87C9216}"/>
              </a:ext>
            </a:extLst>
          </p:cNvPr>
          <p:cNvSpPr/>
          <p:nvPr/>
        </p:nvSpPr>
        <p:spPr>
          <a:xfrm>
            <a:off x="463011" y="3370065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newsopinion</a:t>
            </a:r>
            <a:endParaRPr lang="en-US" sz="72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31486298-D2F9-C0FF-5769-A24BE54A104B}"/>
              </a:ext>
            </a:extLst>
          </p:cNvPr>
          <p:cNvSpPr/>
          <p:nvPr/>
        </p:nvSpPr>
        <p:spPr>
          <a:xfrm>
            <a:off x="4060717" y="3370065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700" dirty="0"/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ADE37B14-638D-F59D-8D9C-6C4E641BCB87}"/>
              </a:ext>
            </a:extLst>
          </p:cNvPr>
          <p:cNvSpPr/>
          <p:nvPr/>
        </p:nvSpPr>
        <p:spPr>
          <a:xfrm>
            <a:off x="2546830" y="3536029"/>
            <a:ext cx="787397" cy="12344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3BB76679-95B7-2E3C-14C2-2BA2C18B312B}"/>
              </a:ext>
            </a:extLst>
          </p:cNvPr>
          <p:cNvSpPr/>
          <p:nvPr/>
        </p:nvSpPr>
        <p:spPr>
          <a:xfrm>
            <a:off x="463011" y="3521855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tv-gallery</a:t>
            </a:r>
            <a:endParaRPr lang="en-US" sz="720" dirty="0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4A6BB7EB-A22B-2081-64E7-F2C226D8F4BC}"/>
              </a:ext>
            </a:extLst>
          </p:cNvPr>
          <p:cNvSpPr/>
          <p:nvPr/>
        </p:nvSpPr>
        <p:spPr>
          <a:xfrm>
            <a:off x="2272510" y="3521855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-0.76</a:t>
            </a:r>
            <a:endParaRPr lang="en-US" sz="70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ACBA6451-FB57-22B0-FA4A-7139B28DCAD0}"/>
              </a:ext>
            </a:extLst>
          </p:cNvPr>
          <p:cNvSpPr/>
          <p:nvPr/>
        </p:nvSpPr>
        <p:spPr>
          <a:xfrm>
            <a:off x="2546003" y="3687819"/>
            <a:ext cx="788224" cy="12344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DE2F93FA-763B-C7DB-89DA-74A237803B3E}"/>
              </a:ext>
            </a:extLst>
          </p:cNvPr>
          <p:cNvSpPr/>
          <p:nvPr/>
        </p:nvSpPr>
        <p:spPr>
          <a:xfrm>
            <a:off x="463011" y="3673646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abstract_char_count</a:t>
            </a:r>
            <a:endParaRPr lang="en-US" sz="72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7657C652-1840-A4AC-9C9C-187D4BFFE8CC}"/>
              </a:ext>
            </a:extLst>
          </p:cNvPr>
          <p:cNvSpPr/>
          <p:nvPr/>
        </p:nvSpPr>
        <p:spPr>
          <a:xfrm>
            <a:off x="2271683" y="3673646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-0.76</a:t>
            </a:r>
            <a:endParaRPr lang="en-US" sz="700" dirty="0"/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CE4A5C3E-0F66-7F02-4808-35A0B3082475}"/>
              </a:ext>
            </a:extLst>
          </p:cNvPr>
          <p:cNvSpPr/>
          <p:nvPr/>
        </p:nvSpPr>
        <p:spPr>
          <a:xfrm>
            <a:off x="2286054" y="3839609"/>
            <a:ext cx="1048173" cy="12344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425CB40A-083E-5C59-2945-C886F6515C80}"/>
              </a:ext>
            </a:extLst>
          </p:cNvPr>
          <p:cNvSpPr/>
          <p:nvPr/>
        </p:nvSpPr>
        <p:spPr>
          <a:xfrm>
            <a:off x="463011" y="3825436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football_nfl_videos</a:t>
            </a:r>
            <a:endParaRPr lang="en-US" sz="72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B5ECF978-C11B-C214-2687-9C8AC15BB184}"/>
              </a:ext>
            </a:extLst>
          </p:cNvPr>
          <p:cNvSpPr/>
          <p:nvPr/>
        </p:nvSpPr>
        <p:spPr>
          <a:xfrm>
            <a:off x="2011734" y="3825436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-1.01</a:t>
            </a:r>
            <a:endParaRPr lang="en-US" sz="700" dirty="0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DBD2FF70-0534-9798-875F-16A62AC8B8A7}"/>
              </a:ext>
            </a:extLst>
          </p:cNvPr>
          <p:cNvSpPr/>
          <p:nvPr/>
        </p:nvSpPr>
        <p:spPr>
          <a:xfrm>
            <a:off x="2157063" y="3991400"/>
            <a:ext cx="1177164" cy="12344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1D75D11D-888E-FFB0-89B8-0847B612D22E}"/>
              </a:ext>
            </a:extLst>
          </p:cNvPr>
          <p:cNvSpPr/>
          <p:nvPr/>
        </p:nvSpPr>
        <p:spPr>
          <a:xfrm>
            <a:off x="463011" y="3977227"/>
            <a:ext cx="11704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music-gallery</a:t>
            </a:r>
            <a:endParaRPr lang="en-US" sz="720" dirty="0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95FB10C4-D94C-E7C0-7478-AD86E93C336E}"/>
              </a:ext>
            </a:extLst>
          </p:cNvPr>
          <p:cNvSpPr/>
          <p:nvPr/>
        </p:nvSpPr>
        <p:spPr>
          <a:xfrm>
            <a:off x="1882743" y="3977227"/>
            <a:ext cx="25603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-1.14</a:t>
            </a:r>
            <a:endParaRPr lang="en-US" sz="7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356CE1-386B-8A81-5C01-54ACBD1879EA}"/>
              </a:ext>
            </a:extLst>
          </p:cNvPr>
          <p:cNvSpPr>
            <a:spLocks noGrp="1"/>
          </p:cNvSpPr>
          <p:nvPr/>
        </p:nvSpPr>
        <p:spPr>
          <a:xfrm>
            <a:off x="5415135" y="16561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EE7255-5FD5-338C-50D7-E58D5BC873EF}"/>
              </a:ext>
            </a:extLst>
          </p:cNvPr>
          <p:cNvSpPr>
            <a:spLocks noGrp="1"/>
          </p:cNvSpPr>
          <p:nvPr/>
        </p:nvSpPr>
        <p:spPr>
          <a:xfrm>
            <a:off x="5415135" y="1656160"/>
            <a:ext cx="14668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4CA57-EC44-5092-2895-B9396ABBECAA}"/>
              </a:ext>
            </a:extLst>
          </p:cNvPr>
          <p:cNvSpPr>
            <a:spLocks noGrp="1"/>
          </p:cNvSpPr>
          <p:nvPr/>
        </p:nvSpPr>
        <p:spPr>
          <a:xfrm>
            <a:off x="5586585" y="18657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0.</a:t>
            </a:r>
            <a:r>
              <a:rPr lang="en-US" altLang="zh-CN" sz="2100" b="1" dirty="0">
                <a:solidFill>
                  <a:srgbClr val="000000"/>
                </a:solidFill>
              </a:rPr>
              <a:t>6112</a:t>
            </a:r>
            <a:endParaRPr sz="2100" b="1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C002FF-8CD7-DAC1-DAAC-A5A39895F462}"/>
              </a:ext>
            </a:extLst>
          </p:cNvPr>
          <p:cNvSpPr>
            <a:spLocks noGrp="1"/>
          </p:cNvSpPr>
          <p:nvPr/>
        </p:nvSpPr>
        <p:spPr>
          <a:xfrm>
            <a:off x="5586585" y="22657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AUC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DF7BD5-1168-A9C4-BC20-B485D0D73E36}"/>
              </a:ext>
            </a:extLst>
          </p:cNvPr>
          <p:cNvSpPr>
            <a:spLocks noGrp="1"/>
          </p:cNvSpPr>
          <p:nvPr/>
        </p:nvSpPr>
        <p:spPr>
          <a:xfrm>
            <a:off x="7034385" y="16561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39C190-B1D9-B73D-23DA-4D0E4C6CBC89}"/>
              </a:ext>
            </a:extLst>
          </p:cNvPr>
          <p:cNvSpPr>
            <a:spLocks noGrp="1"/>
          </p:cNvSpPr>
          <p:nvPr/>
        </p:nvSpPr>
        <p:spPr>
          <a:xfrm>
            <a:off x="7034385" y="1656160"/>
            <a:ext cx="14668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5CE94-1337-5E17-510F-FFE6658CFDC1}"/>
              </a:ext>
            </a:extLst>
          </p:cNvPr>
          <p:cNvSpPr>
            <a:spLocks noGrp="1"/>
          </p:cNvSpPr>
          <p:nvPr/>
        </p:nvSpPr>
        <p:spPr>
          <a:xfrm>
            <a:off x="7205835" y="18657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0.</a:t>
            </a:r>
            <a:r>
              <a:rPr lang="en-US" altLang="zh-CN" sz="2100" b="1" dirty="0">
                <a:solidFill>
                  <a:srgbClr val="000000"/>
                </a:solidFill>
              </a:rPr>
              <a:t>3130</a:t>
            </a:r>
            <a:endParaRPr sz="2100" b="1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9F46F8-CCD4-89BB-9641-329386B9300F}"/>
              </a:ext>
            </a:extLst>
          </p:cNvPr>
          <p:cNvSpPr>
            <a:spLocks noGrp="1"/>
          </p:cNvSpPr>
          <p:nvPr/>
        </p:nvSpPr>
        <p:spPr>
          <a:xfrm>
            <a:off x="7205835" y="22657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MRR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41102D-9D11-5203-865B-5F04BD1AF9F3}"/>
              </a:ext>
            </a:extLst>
          </p:cNvPr>
          <p:cNvSpPr>
            <a:spLocks noGrp="1"/>
          </p:cNvSpPr>
          <p:nvPr/>
        </p:nvSpPr>
        <p:spPr>
          <a:xfrm>
            <a:off x="8653635" y="16561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C1AC05-466C-FCCA-B7C6-CEA71E26DEDB}"/>
              </a:ext>
            </a:extLst>
          </p:cNvPr>
          <p:cNvSpPr>
            <a:spLocks noGrp="1"/>
          </p:cNvSpPr>
          <p:nvPr/>
        </p:nvSpPr>
        <p:spPr>
          <a:xfrm>
            <a:off x="8653635" y="1656160"/>
            <a:ext cx="146685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B0052-9ACE-5276-F20F-FA593775903C}"/>
              </a:ext>
            </a:extLst>
          </p:cNvPr>
          <p:cNvSpPr>
            <a:spLocks noGrp="1"/>
          </p:cNvSpPr>
          <p:nvPr/>
        </p:nvSpPr>
        <p:spPr>
          <a:xfrm>
            <a:off x="8825085" y="18657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0.</a:t>
            </a:r>
            <a:r>
              <a:rPr lang="en-US" altLang="zh-CN" sz="2100" b="1" dirty="0">
                <a:solidFill>
                  <a:srgbClr val="000000"/>
                </a:solidFill>
              </a:rPr>
              <a:t>3005</a:t>
            </a:r>
            <a:endParaRPr sz="2100" b="1" dirty="0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FD7E4B-C917-387C-A889-846618622DFC}"/>
              </a:ext>
            </a:extLst>
          </p:cNvPr>
          <p:cNvSpPr>
            <a:spLocks noGrp="1"/>
          </p:cNvSpPr>
          <p:nvPr/>
        </p:nvSpPr>
        <p:spPr>
          <a:xfrm>
            <a:off x="8825085" y="22657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nDCG@5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CB01AF2-F76B-671C-653F-B13CD0FC7336}"/>
              </a:ext>
            </a:extLst>
          </p:cNvPr>
          <p:cNvSpPr>
            <a:spLocks noGrp="1"/>
          </p:cNvSpPr>
          <p:nvPr/>
        </p:nvSpPr>
        <p:spPr>
          <a:xfrm>
            <a:off x="10272885" y="165616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39919-0B87-5858-8135-67CEEF1A1090}"/>
              </a:ext>
            </a:extLst>
          </p:cNvPr>
          <p:cNvSpPr>
            <a:spLocks noGrp="1"/>
          </p:cNvSpPr>
          <p:nvPr/>
        </p:nvSpPr>
        <p:spPr>
          <a:xfrm>
            <a:off x="10272885" y="1656160"/>
            <a:ext cx="14668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1019DE-90B9-F041-6519-B7449251B1DC}"/>
              </a:ext>
            </a:extLst>
          </p:cNvPr>
          <p:cNvSpPr>
            <a:spLocks noGrp="1"/>
          </p:cNvSpPr>
          <p:nvPr/>
        </p:nvSpPr>
        <p:spPr>
          <a:xfrm>
            <a:off x="10444335" y="1865710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0.3</a:t>
            </a:r>
            <a:r>
              <a:rPr lang="en-US" altLang="zh-CN" sz="2100" b="1" dirty="0">
                <a:solidFill>
                  <a:srgbClr val="000000"/>
                </a:solidFill>
              </a:rPr>
              <a:t>640</a:t>
            </a:r>
            <a:endParaRPr sz="2100" b="1" dirty="0">
              <a:solidFill>
                <a:srgbClr val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153629-8BE7-D07B-4FD3-01000E153044}"/>
              </a:ext>
            </a:extLst>
          </p:cNvPr>
          <p:cNvSpPr>
            <a:spLocks noGrp="1"/>
          </p:cNvSpPr>
          <p:nvPr/>
        </p:nvSpPr>
        <p:spPr>
          <a:xfrm>
            <a:off x="10444335" y="226576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nDCG@10</a:t>
            </a:r>
          </a:p>
        </p:txBody>
      </p:sp>
    </p:spTree>
    <p:extLst>
      <p:ext uri="{BB962C8B-B14F-4D97-AF65-F5344CB8AC3E}">
        <p14:creationId xmlns:p14="http://schemas.microsoft.com/office/powerpoint/2010/main" val="169430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B110D3-ED08-4B1A-8E64-FC9E26D334CD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1</a:t>
            </a:r>
            <a:r>
              <a:rPr lang="en-US" altLang="zh-CN" sz="1350" b="1" dirty="0">
                <a:solidFill>
                  <a:srgbClr val="4472C4"/>
                </a:solidFill>
              </a:rPr>
              <a:t>4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7188B-764E-4C08-8F77-A3CCC29841BF}"/>
              </a:ext>
            </a:extLst>
          </p:cNvPr>
          <p:cNvSpPr>
            <a:spLocks noGrp="1"/>
          </p:cNvSpPr>
          <p:nvPr/>
        </p:nvSpPr>
        <p:spPr>
          <a:xfrm>
            <a:off x="590550" y="732235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 err="1">
                <a:solidFill>
                  <a:srgbClr val="000000"/>
                </a:solidFill>
              </a:rPr>
              <a:t>LightGBM</a:t>
            </a:r>
            <a:r>
              <a:rPr sz="2400" b="1" dirty="0">
                <a:solidFill>
                  <a:srgbClr val="000000"/>
                </a:solidFill>
              </a:rPr>
              <a:t> CTR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63F79-7963-4371-9522-9342591D9762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The strongest ranking baseline adds nonlinear tree interactions and train-time popularity statistics.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AF839D-8F25-48AE-BA72-FE4C5D72434D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504950" cy="247650"/>
          </a:xfrm>
          <a:prstGeom prst="roundRect">
            <a:avLst>
              <a:gd name="adj" fmla="val 30769"/>
            </a:avLst>
          </a:prstGeom>
          <a:solidFill>
            <a:srgbClr val="EAF2FB"/>
          </a:solidFill>
          <a:ln w="0">
            <a:solidFill>
              <a:srgbClr val="EAF2FB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rPr sz="900" b="1">
                <a:solidFill>
                  <a:srgbClr val="4472C4"/>
                </a:solidFill>
              </a:rPr>
              <a:t>lightgbm_ctr.ipynb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71EB26-3754-47E9-96BF-5427DA4BE6D2}"/>
              </a:ext>
            </a:extLst>
          </p:cNvPr>
          <p:cNvSpPr>
            <a:spLocks noGrp="1"/>
          </p:cNvSpPr>
          <p:nvPr/>
        </p:nvSpPr>
        <p:spPr>
          <a:xfrm>
            <a:off x="2286000" y="154305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FFF7DF"/>
          </a:solidFill>
          <a:ln w="0">
            <a:solidFill>
              <a:srgbClr val="FFF7DF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FFC000"/>
                </a:solidFill>
              </a:defRPr>
            </a:pPr>
            <a:r>
              <a:rPr sz="900" b="1">
                <a:solidFill>
                  <a:srgbClr val="FFC000"/>
                </a:solidFill>
              </a:rPr>
              <a:t>RANKING BASELINE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DB8895-6D31-4E7C-AE03-A5EACF2391B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4152900" cy="1828800"/>
          </a:xfrm>
          <a:prstGeom prst="roundRect">
            <a:avLst>
              <a:gd name="adj" fmla="val 4167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F86D6-48E8-42F7-9674-5BD674BE842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46430-EFF1-4C13-94DD-409F2C74BD89}"/>
              </a:ext>
            </a:extLst>
          </p:cNvPr>
          <p:cNvSpPr>
            <a:spLocks noGrp="1"/>
          </p:cNvSpPr>
          <p:nvPr/>
        </p:nvSpPr>
        <p:spPr>
          <a:xfrm>
            <a:off x="773382" y="2444187"/>
            <a:ext cx="38100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>
                <a:solidFill>
                  <a:srgbClr val="44546A"/>
                </a:solidFill>
              </a:rPr>
              <a:t>candidate position, history length, unique history length, hour / weekday / weekend, category / subcategory, title / abstract lengths, history-category ratios, and train-time news popularity statistics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30B768-591F-421B-B611-A2D92AEFFD1C}"/>
              </a:ext>
            </a:extLst>
          </p:cNvPr>
          <p:cNvSpPr>
            <a:spLocks noGrp="1"/>
          </p:cNvSpPr>
          <p:nvPr/>
        </p:nvSpPr>
        <p:spPr>
          <a:xfrm>
            <a:off x="5161912" y="2605132"/>
            <a:ext cx="4425629" cy="156800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1B6D0-0036-4593-9B13-1843C5C68FDA}"/>
              </a:ext>
            </a:extLst>
          </p:cNvPr>
          <p:cNvSpPr>
            <a:spLocks noGrp="1"/>
          </p:cNvSpPr>
          <p:nvPr/>
        </p:nvSpPr>
        <p:spPr>
          <a:xfrm>
            <a:off x="5339029" y="2772724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 dirty="0">
                <a:solidFill>
                  <a:srgbClr val="4472C4"/>
                </a:solidFill>
              </a:rPr>
              <a:t>TOP IMPORTANCE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BCBCD-CA9C-4B58-BAD4-68F707225D13}"/>
              </a:ext>
            </a:extLst>
          </p:cNvPr>
          <p:cNvSpPr>
            <a:spLocks noGrp="1"/>
          </p:cNvSpPr>
          <p:nvPr/>
        </p:nvSpPr>
        <p:spPr>
          <a:xfrm>
            <a:off x="5339029" y="2946095"/>
            <a:ext cx="3964053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75" b="0">
                <a:solidFill>
                  <a:srgbClr val="44546A"/>
                </a:solidFill>
              </a:defRPr>
            </a:pPr>
            <a:r>
              <a:rPr lang="en-US" sz="1050" i="1" dirty="0" err="1"/>
              <a:t>news_train_ctr</a:t>
            </a:r>
            <a:r>
              <a:rPr lang="en-US" sz="1050" i="1" dirty="0"/>
              <a:t> captures item-level global popularity learned from training clicks, while </a:t>
            </a:r>
            <a:r>
              <a:rPr lang="en-US" sz="1050" i="1" dirty="0" err="1"/>
              <a:t>candidate_pos</a:t>
            </a:r>
            <a:r>
              <a:rPr lang="en-US" sz="1050" i="1" dirty="0"/>
              <a:t> captures exposure/order effects in the candidate list. In contrast, user-interest matching features (</a:t>
            </a:r>
            <a:r>
              <a:rPr lang="en-US" sz="1050" i="1" dirty="0" err="1"/>
              <a:t>history_category</a:t>
            </a:r>
            <a:r>
              <a:rPr lang="en-US" sz="1050" i="1" dirty="0"/>
              <a:t>/subcategory count/ratio and category fields) encode personalization and contribute less gain. This indicates the model is currently driven more by popularity and position priors than by deep user-specific preference modeling.</a:t>
            </a:r>
            <a:endParaRPr sz="1050" b="0" dirty="0">
              <a:solidFill>
                <a:srgbClr val="44546A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4059226-FBEB-4CD9-B9E4-4ED0054F79B9}"/>
              </a:ext>
            </a:extLst>
          </p:cNvPr>
          <p:cNvSpPr>
            <a:spLocks noGrp="1"/>
          </p:cNvSpPr>
          <p:nvPr/>
        </p:nvSpPr>
        <p:spPr>
          <a:xfrm>
            <a:off x="9851574" y="2582465"/>
            <a:ext cx="1516780" cy="1590674"/>
          </a:xfrm>
          <a:prstGeom prst="roundRect">
            <a:avLst>
              <a:gd name="adj" fmla="val 7692"/>
            </a:avLst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2FC41-6579-4957-9696-3A958F92B5BD}"/>
              </a:ext>
            </a:extLst>
          </p:cNvPr>
          <p:cNvSpPr>
            <a:spLocks noGrp="1"/>
          </p:cNvSpPr>
          <p:nvPr/>
        </p:nvSpPr>
        <p:spPr>
          <a:xfrm>
            <a:off x="9985372" y="2695077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 dirty="0">
                <a:solidFill>
                  <a:srgbClr val="4472C4"/>
                </a:solidFill>
              </a:rPr>
              <a:t>TUNED PARAMS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F695CE-2991-463E-BF96-88FEB22ACDA7}"/>
              </a:ext>
            </a:extLst>
          </p:cNvPr>
          <p:cNvSpPr>
            <a:spLocks noGrp="1"/>
          </p:cNvSpPr>
          <p:nvPr/>
        </p:nvSpPr>
        <p:spPr>
          <a:xfrm>
            <a:off x="9980786" y="2968773"/>
            <a:ext cx="2775136" cy="870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n_estimators</a:t>
            </a:r>
            <a:r>
              <a:rPr sz="1050" b="0" dirty="0">
                <a:solidFill>
                  <a:srgbClr val="44546A"/>
                </a:solidFill>
              </a:rPr>
              <a:t>=400 </a:t>
            </a:r>
            <a:endParaRPr lang="en-US" sz="1050" dirty="0">
              <a:solidFill>
                <a:srgbClr val="44546A"/>
              </a:solidFill>
            </a:endParaRP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learning_rate</a:t>
            </a:r>
            <a:r>
              <a:rPr sz="1050" b="0" dirty="0">
                <a:solidFill>
                  <a:srgbClr val="44546A"/>
                </a:solidFill>
              </a:rPr>
              <a:t>=0.1 </a:t>
            </a:r>
            <a:endParaRPr lang="en-US" sz="1050" dirty="0">
              <a:solidFill>
                <a:srgbClr val="44546A"/>
              </a:solidFill>
            </a:endParaRP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num_leaves</a:t>
            </a:r>
            <a:r>
              <a:rPr sz="1050" b="0" dirty="0">
                <a:solidFill>
                  <a:srgbClr val="44546A"/>
                </a:solidFill>
              </a:rPr>
              <a:t>=31</a:t>
            </a: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max_depth</a:t>
            </a:r>
            <a:r>
              <a:rPr sz="1050" b="0" dirty="0">
                <a:solidFill>
                  <a:srgbClr val="44546A"/>
                </a:solidFill>
              </a:rPr>
              <a:t>=6 </a:t>
            </a:r>
            <a:endParaRPr lang="en-US" sz="1050" b="0" dirty="0">
              <a:solidFill>
                <a:srgbClr val="44546A"/>
              </a:solidFill>
            </a:endParaRP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feature_fraction</a:t>
            </a:r>
            <a:r>
              <a:rPr sz="1050" b="0" dirty="0">
                <a:solidFill>
                  <a:srgbClr val="44546A"/>
                </a:solidFill>
              </a:rPr>
              <a:t>=0.8  </a:t>
            </a:r>
            <a:endParaRPr lang="en-US" sz="1050" b="0" dirty="0">
              <a:solidFill>
                <a:srgbClr val="44546A"/>
              </a:solidFill>
            </a:endParaRP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 err="1">
                <a:solidFill>
                  <a:srgbClr val="44546A"/>
                </a:solidFill>
              </a:rPr>
              <a:t>bagging_fraction</a:t>
            </a:r>
            <a:r>
              <a:rPr sz="1050" b="0" dirty="0">
                <a:solidFill>
                  <a:srgbClr val="44546A"/>
                </a:solidFill>
              </a:rPr>
              <a:t>=0.7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DBB27F-CBC4-47C6-AB16-C0EF82A640A1}"/>
              </a:ext>
            </a:extLst>
          </p:cNvPr>
          <p:cNvSpPr>
            <a:spLocks noGrp="1"/>
          </p:cNvSpPr>
          <p:nvPr/>
        </p:nvSpPr>
        <p:spPr>
          <a:xfrm>
            <a:off x="5161912" y="1420415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4D6800-A79A-4163-B633-26E6C5B53274}"/>
              </a:ext>
            </a:extLst>
          </p:cNvPr>
          <p:cNvSpPr>
            <a:spLocks noGrp="1"/>
          </p:cNvSpPr>
          <p:nvPr/>
        </p:nvSpPr>
        <p:spPr>
          <a:xfrm>
            <a:off x="5161912" y="1420415"/>
            <a:ext cx="1466850" cy="571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B63FB-9B8B-4695-9F82-C81392B7FF09}"/>
              </a:ext>
            </a:extLst>
          </p:cNvPr>
          <p:cNvSpPr>
            <a:spLocks noGrp="1"/>
          </p:cNvSpPr>
          <p:nvPr/>
        </p:nvSpPr>
        <p:spPr>
          <a:xfrm>
            <a:off x="5333362" y="162996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0.6110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6D47D1-1DA7-4834-8887-D26F037B06A0}"/>
              </a:ext>
            </a:extLst>
          </p:cNvPr>
          <p:cNvSpPr>
            <a:spLocks noGrp="1"/>
          </p:cNvSpPr>
          <p:nvPr/>
        </p:nvSpPr>
        <p:spPr>
          <a:xfrm>
            <a:off x="5333362" y="203001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AUC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64E28D0-E5E2-48A4-8358-9C6F9F5F75D0}"/>
              </a:ext>
            </a:extLst>
          </p:cNvPr>
          <p:cNvSpPr>
            <a:spLocks noGrp="1"/>
          </p:cNvSpPr>
          <p:nvPr/>
        </p:nvSpPr>
        <p:spPr>
          <a:xfrm>
            <a:off x="6781162" y="1420415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CFA1DB-0BA5-4C3D-9F71-659610698280}"/>
              </a:ext>
            </a:extLst>
          </p:cNvPr>
          <p:cNvSpPr>
            <a:spLocks noGrp="1"/>
          </p:cNvSpPr>
          <p:nvPr/>
        </p:nvSpPr>
        <p:spPr>
          <a:xfrm>
            <a:off x="6781162" y="1420415"/>
            <a:ext cx="1466850" cy="57150"/>
          </a:xfrm>
          <a:prstGeom prst="rect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284C08-31CC-4DAA-B1D7-8FAFA2748B83}"/>
              </a:ext>
            </a:extLst>
          </p:cNvPr>
          <p:cNvSpPr>
            <a:spLocks noGrp="1"/>
          </p:cNvSpPr>
          <p:nvPr/>
        </p:nvSpPr>
        <p:spPr>
          <a:xfrm>
            <a:off x="6952612" y="162996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0.3332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080475-5AC5-438D-8343-A1BBB33EB482}"/>
              </a:ext>
            </a:extLst>
          </p:cNvPr>
          <p:cNvSpPr>
            <a:spLocks noGrp="1"/>
          </p:cNvSpPr>
          <p:nvPr/>
        </p:nvSpPr>
        <p:spPr>
          <a:xfrm>
            <a:off x="6952612" y="203001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MRR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563611B-9251-4DBA-B8C0-36CE3B8E9866}"/>
              </a:ext>
            </a:extLst>
          </p:cNvPr>
          <p:cNvSpPr>
            <a:spLocks noGrp="1"/>
          </p:cNvSpPr>
          <p:nvPr/>
        </p:nvSpPr>
        <p:spPr>
          <a:xfrm>
            <a:off x="8400412" y="1420415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6DA58C-34A7-4252-A1D0-C87F5DD53C36}"/>
              </a:ext>
            </a:extLst>
          </p:cNvPr>
          <p:cNvSpPr>
            <a:spLocks noGrp="1"/>
          </p:cNvSpPr>
          <p:nvPr/>
        </p:nvSpPr>
        <p:spPr>
          <a:xfrm>
            <a:off x="8400412" y="1420415"/>
            <a:ext cx="1466850" cy="571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DCF845-A49B-41AF-B0E9-5AC63E0879A0}"/>
              </a:ext>
            </a:extLst>
          </p:cNvPr>
          <p:cNvSpPr>
            <a:spLocks noGrp="1"/>
          </p:cNvSpPr>
          <p:nvPr/>
        </p:nvSpPr>
        <p:spPr>
          <a:xfrm>
            <a:off x="8571862" y="162996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0.3141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D15A6A-25C4-436E-8DDE-968BF988A700}"/>
              </a:ext>
            </a:extLst>
          </p:cNvPr>
          <p:cNvSpPr>
            <a:spLocks noGrp="1"/>
          </p:cNvSpPr>
          <p:nvPr/>
        </p:nvSpPr>
        <p:spPr>
          <a:xfrm>
            <a:off x="8571862" y="203001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nDCG@5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238ABD2-3A85-420B-B551-C16158271BBC}"/>
              </a:ext>
            </a:extLst>
          </p:cNvPr>
          <p:cNvSpPr>
            <a:spLocks noGrp="1"/>
          </p:cNvSpPr>
          <p:nvPr/>
        </p:nvSpPr>
        <p:spPr>
          <a:xfrm>
            <a:off x="10013947" y="1420415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75EA2-CFBA-4F45-B61D-D380BE64C2EF}"/>
              </a:ext>
            </a:extLst>
          </p:cNvPr>
          <p:cNvSpPr>
            <a:spLocks noGrp="1"/>
          </p:cNvSpPr>
          <p:nvPr/>
        </p:nvSpPr>
        <p:spPr>
          <a:xfrm>
            <a:off x="10013947" y="1420415"/>
            <a:ext cx="1466850" cy="571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6D668D-41B3-435C-AEA8-F42342AC7238}"/>
              </a:ext>
            </a:extLst>
          </p:cNvPr>
          <p:cNvSpPr>
            <a:spLocks noGrp="1"/>
          </p:cNvSpPr>
          <p:nvPr/>
        </p:nvSpPr>
        <p:spPr>
          <a:xfrm>
            <a:off x="10185397" y="1629965"/>
            <a:ext cx="1123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 dirty="0">
                <a:solidFill>
                  <a:srgbClr val="000000"/>
                </a:solidFill>
              </a:rPr>
              <a:t>0.3716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6F2AD7-07F4-43B9-A98B-A308499C6F0E}"/>
              </a:ext>
            </a:extLst>
          </p:cNvPr>
          <p:cNvSpPr>
            <a:spLocks noGrp="1"/>
          </p:cNvSpPr>
          <p:nvPr/>
        </p:nvSpPr>
        <p:spPr>
          <a:xfrm>
            <a:off x="10185397" y="203001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 dirty="0">
                <a:solidFill>
                  <a:srgbClr val="44546A"/>
                </a:solidFill>
              </a:rPr>
              <a:t>nDCG@10</a:t>
            </a:r>
            <a:r>
              <a:rPr lang="en-US" sz="1125" b="0" dirty="0">
                <a:solidFill>
                  <a:srgbClr val="44546A"/>
                </a:solidFill>
              </a:rPr>
              <a:t>x</a:t>
            </a:r>
            <a:endParaRPr sz="1125" b="0" dirty="0">
              <a:solidFill>
                <a:srgbClr val="44546A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0253EE3-3331-4B62-9A03-B3DADE788C6B}"/>
              </a:ext>
            </a:extLst>
          </p:cNvPr>
          <p:cNvSpPr>
            <a:spLocks noGrp="1"/>
          </p:cNvSpPr>
          <p:nvPr/>
        </p:nvSpPr>
        <p:spPr>
          <a:xfrm>
            <a:off x="5219700" y="4388841"/>
            <a:ext cx="6096000" cy="2335809"/>
          </a:xfrm>
          <a:prstGeom prst="roundRect">
            <a:avLst>
              <a:gd name="adj" fmla="val 5128"/>
            </a:avLst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62000B-B056-4B58-AE3D-1BED4C29503E}"/>
              </a:ext>
            </a:extLst>
          </p:cNvPr>
          <p:cNvSpPr>
            <a:spLocks noGrp="1"/>
          </p:cNvSpPr>
          <p:nvPr/>
        </p:nvSpPr>
        <p:spPr>
          <a:xfrm>
            <a:off x="5334000" y="4458477"/>
            <a:ext cx="575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 dirty="0">
                <a:solidFill>
                  <a:srgbClr val="4472C4"/>
                </a:solidFill>
              </a:rPr>
              <a:t>TAKEAWAY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732269-965A-4D5B-B395-C39227F3DB3C}"/>
              </a:ext>
            </a:extLst>
          </p:cNvPr>
          <p:cNvSpPr>
            <a:spLocks noGrp="1"/>
          </p:cNvSpPr>
          <p:nvPr/>
        </p:nvSpPr>
        <p:spPr>
          <a:xfrm>
            <a:off x="5404037" y="4687077"/>
            <a:ext cx="5753100" cy="14793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 dirty="0" err="1">
                <a:solidFill>
                  <a:srgbClr val="44546A"/>
                </a:solidFill>
              </a:rPr>
              <a:t>LightGBM</a:t>
            </a:r>
            <a:r>
              <a:rPr sz="1275" b="0" dirty="0">
                <a:solidFill>
                  <a:srgbClr val="44546A"/>
                </a:solidFill>
              </a:rPr>
              <a:t> is effectively tied with Logistic Regression on AUC and wins the ranking-oriented metrics MRR, nDCG@5, and nDCG@10. That makes it the best overall Round 1 baseline for recommendation quality.</a:t>
            </a:r>
            <a:endParaRPr lang="en-US" sz="1275" b="0" dirty="0">
              <a:solidFill>
                <a:srgbClr val="44546A"/>
              </a:solidFill>
            </a:endParaRPr>
          </a:p>
          <a:p>
            <a:pPr algn="l">
              <a:defRPr sz="1275" b="0">
                <a:solidFill>
                  <a:srgbClr val="44546A"/>
                </a:solidFill>
              </a:defRPr>
            </a:pPr>
            <a:endParaRPr lang="en-US" sz="1275" b="0" dirty="0">
              <a:solidFill>
                <a:srgbClr val="44546A"/>
              </a:solidFill>
            </a:endParaRPr>
          </a:p>
          <a:p>
            <a:pPr>
              <a:defRPr sz="1275" b="0">
                <a:solidFill>
                  <a:srgbClr val="44546A"/>
                </a:solidFill>
              </a:defRPr>
            </a:pPr>
            <a:r>
              <a:rPr lang="en-US" sz="1275" dirty="0">
                <a:solidFill>
                  <a:srgbClr val="44546A"/>
                </a:solidFill>
              </a:rPr>
              <a:t>Popularity over-reliance risk: The model is heavily driven by </a:t>
            </a:r>
            <a:r>
              <a:rPr lang="en-US" sz="1275" dirty="0" err="1">
                <a:solidFill>
                  <a:srgbClr val="44546A"/>
                </a:solidFill>
              </a:rPr>
              <a:t>news_train_ctr</a:t>
            </a:r>
            <a:r>
              <a:rPr lang="en-US" sz="1275" dirty="0">
                <a:solidFill>
                  <a:srgbClr val="44546A"/>
                </a:solidFill>
              </a:rPr>
              <a:t>, so it may over-prioritize already popular items and under-serve long-tail or emerging content.</a:t>
            </a:r>
          </a:p>
          <a:p>
            <a:pPr>
              <a:defRPr sz="1275" b="0">
                <a:solidFill>
                  <a:srgbClr val="44546A"/>
                </a:solidFill>
              </a:defRPr>
            </a:pPr>
            <a:endParaRPr lang="en-US" sz="1275" dirty="0">
              <a:solidFill>
                <a:srgbClr val="44546A"/>
              </a:solidFill>
            </a:endParaRPr>
          </a:p>
          <a:p>
            <a:pPr>
              <a:defRPr sz="1275" b="0">
                <a:solidFill>
                  <a:srgbClr val="44546A"/>
                </a:solidFill>
              </a:defRPr>
            </a:pPr>
            <a:r>
              <a:rPr lang="en-US" sz="1275" dirty="0">
                <a:solidFill>
                  <a:srgbClr val="44546A"/>
                </a:solidFill>
              </a:rPr>
              <a:t>Position-bias amplification risk: Strong dependence on </a:t>
            </a:r>
            <a:r>
              <a:rPr lang="en-US" sz="1275" dirty="0" err="1">
                <a:solidFill>
                  <a:srgbClr val="44546A"/>
                </a:solidFill>
              </a:rPr>
              <a:t>candidate_pos</a:t>
            </a:r>
            <a:r>
              <a:rPr lang="en-US" sz="1275" dirty="0">
                <a:solidFill>
                  <a:srgbClr val="44546A"/>
                </a:solidFill>
              </a:rPr>
              <a:t> suggests the model may learn exposure order effects rather than pure relevance, which can hurt robustness if ranking policies change.</a:t>
            </a:r>
          </a:p>
          <a:p>
            <a:pPr algn="l">
              <a:defRPr sz="1275" b="0">
                <a:solidFill>
                  <a:srgbClr val="44546A"/>
                </a:solidFill>
              </a:defRPr>
            </a:pPr>
            <a:endParaRPr sz="1275" b="0" dirty="0">
              <a:solidFill>
                <a:srgbClr val="44546A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EB2E8D-C3F9-4E05-C24D-0CA060813472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3C77F83-23AE-280B-2825-A4AB9F9A1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B67BE3-91D3-50AB-CF8D-169A5D7F9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4142185"/>
            <a:ext cx="3714750" cy="230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03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5">
            <a:extLst>
              <a:ext uri="{FF2B5EF4-FFF2-40B4-BE49-F238E27FC236}">
                <a16:creationId xmlns:a16="http://schemas.microsoft.com/office/drawing/2014/main" id="{F198A749-12E2-48C8-A898-B7719A2BF0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85014-15AE-49AA-86B8-CAA61191F39E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1</a:t>
            </a:r>
            <a:r>
              <a:rPr lang="en-US" altLang="zh-CN" sz="1350" b="1" dirty="0">
                <a:solidFill>
                  <a:srgbClr val="4472C4"/>
                </a:solidFill>
              </a:rPr>
              <a:t>5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ED0CA-1FC9-4404-9F5C-786C4C04F761}"/>
              </a:ext>
            </a:extLst>
          </p:cNvPr>
          <p:cNvSpPr>
            <a:spLocks noGrp="1"/>
          </p:cNvSpPr>
          <p:nvPr/>
        </p:nvSpPr>
        <p:spPr>
          <a:xfrm>
            <a:off x="590550" y="7209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 dirty="0">
                <a:solidFill>
                  <a:srgbClr val="000000"/>
                </a:solidFill>
              </a:rPr>
              <a:t>Overall Comparison And Recommendation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7F2AF0-E4AE-4E30-85AC-9822735E32AF}"/>
              </a:ext>
            </a:extLst>
          </p:cNvPr>
          <p:cNvSpPr>
            <a:spLocks noGrp="1"/>
          </p:cNvSpPr>
          <p:nvPr/>
        </p:nvSpPr>
        <p:spPr>
          <a:xfrm>
            <a:off x="609600" y="119721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4546A"/>
                </a:solidFill>
              </a:defRPr>
            </a:pPr>
            <a:r>
              <a:rPr sz="1275" b="0" dirty="0">
                <a:solidFill>
                  <a:srgbClr val="44546A"/>
                </a:solidFill>
              </a:rPr>
              <a:t>The deck closes by comparing all five baselines under the same validation protocol.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87C04-B91A-4860-B65F-C6A99CD670FB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714500" cy="514350"/>
          </a:xfrm>
          <a:prstGeom prst="rect">
            <a:avLst/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985AE-592C-48EE-B62C-870F9D94331B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1F8838-8342-4594-99A0-BC0FC88BEC64}"/>
              </a:ext>
            </a:extLst>
          </p:cNvPr>
          <p:cNvSpPr>
            <a:spLocks noGrp="1"/>
          </p:cNvSpPr>
          <p:nvPr/>
        </p:nvSpPr>
        <p:spPr>
          <a:xfrm>
            <a:off x="2324100" y="1733550"/>
            <a:ext cx="1524000" cy="514350"/>
          </a:xfrm>
          <a:prstGeom prst="rect">
            <a:avLst/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717A4-4208-460B-9ACD-69638EE98E51}"/>
              </a:ext>
            </a:extLst>
          </p:cNvPr>
          <p:cNvSpPr>
            <a:spLocks noGrp="1"/>
          </p:cNvSpPr>
          <p:nvPr/>
        </p:nvSpPr>
        <p:spPr>
          <a:xfrm>
            <a:off x="2419350" y="18097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AUC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3A715-24CA-429D-8149-A5D514D6A6C9}"/>
              </a:ext>
            </a:extLst>
          </p:cNvPr>
          <p:cNvSpPr>
            <a:spLocks noGrp="1"/>
          </p:cNvSpPr>
          <p:nvPr/>
        </p:nvSpPr>
        <p:spPr>
          <a:xfrm>
            <a:off x="3848100" y="1733550"/>
            <a:ext cx="1524000" cy="514350"/>
          </a:xfrm>
          <a:prstGeom prst="rect">
            <a:avLst/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1D4C8-3066-43A3-8747-E16CD7B3AD50}"/>
              </a:ext>
            </a:extLst>
          </p:cNvPr>
          <p:cNvSpPr>
            <a:spLocks noGrp="1"/>
          </p:cNvSpPr>
          <p:nvPr/>
        </p:nvSpPr>
        <p:spPr>
          <a:xfrm>
            <a:off x="3943350" y="18097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MRR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2ADCC-5EB8-4DBC-B0E1-A1D9061B657D}"/>
              </a:ext>
            </a:extLst>
          </p:cNvPr>
          <p:cNvSpPr>
            <a:spLocks noGrp="1"/>
          </p:cNvSpPr>
          <p:nvPr/>
        </p:nvSpPr>
        <p:spPr>
          <a:xfrm>
            <a:off x="5372100" y="1733550"/>
            <a:ext cx="1524000" cy="514350"/>
          </a:xfrm>
          <a:prstGeom prst="rect">
            <a:avLst/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F2B60-E640-4402-A1C3-9E24619963D7}"/>
              </a:ext>
            </a:extLst>
          </p:cNvPr>
          <p:cNvSpPr>
            <a:spLocks noGrp="1"/>
          </p:cNvSpPr>
          <p:nvPr/>
        </p:nvSpPr>
        <p:spPr>
          <a:xfrm>
            <a:off x="5467350" y="18097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nDCG@5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824FB6-F308-4424-A9BE-7BD62E27A037}"/>
              </a:ext>
            </a:extLst>
          </p:cNvPr>
          <p:cNvSpPr>
            <a:spLocks noGrp="1"/>
          </p:cNvSpPr>
          <p:nvPr/>
        </p:nvSpPr>
        <p:spPr>
          <a:xfrm>
            <a:off x="6896100" y="1733550"/>
            <a:ext cx="1524000" cy="514350"/>
          </a:xfrm>
          <a:prstGeom prst="rect">
            <a:avLst/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F4EDE-244A-4863-9FF2-4B0B94C15BF8}"/>
              </a:ext>
            </a:extLst>
          </p:cNvPr>
          <p:cNvSpPr>
            <a:spLocks noGrp="1"/>
          </p:cNvSpPr>
          <p:nvPr/>
        </p:nvSpPr>
        <p:spPr>
          <a:xfrm>
            <a:off x="6991350" y="18097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nDCG@10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8B5DED-72DF-470F-8567-478538437A9C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20CEE1-41B6-4C1A-AEBD-E7B38210B941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Popularity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345816-397F-4D53-A053-4B440DF5FBEA}"/>
              </a:ext>
            </a:extLst>
          </p:cNvPr>
          <p:cNvSpPr>
            <a:spLocks noGrp="1"/>
          </p:cNvSpPr>
          <p:nvPr/>
        </p:nvSpPr>
        <p:spPr>
          <a:xfrm>
            <a:off x="2324100" y="22479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8F136C-CA14-4461-988D-4C81D43F3373}"/>
              </a:ext>
            </a:extLst>
          </p:cNvPr>
          <p:cNvSpPr>
            <a:spLocks noGrp="1"/>
          </p:cNvSpPr>
          <p:nvPr/>
        </p:nvSpPr>
        <p:spPr>
          <a:xfrm>
            <a:off x="2419350" y="23241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0.5318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8059B-3EBE-479C-81DE-9D3889268963}"/>
              </a:ext>
            </a:extLst>
          </p:cNvPr>
          <p:cNvSpPr>
            <a:spLocks noGrp="1"/>
          </p:cNvSpPr>
          <p:nvPr/>
        </p:nvSpPr>
        <p:spPr>
          <a:xfrm>
            <a:off x="3848100" y="22479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F3A021-DD93-4D99-AF1A-8F59E03E8DDE}"/>
              </a:ext>
            </a:extLst>
          </p:cNvPr>
          <p:cNvSpPr>
            <a:spLocks noGrp="1"/>
          </p:cNvSpPr>
          <p:nvPr/>
        </p:nvSpPr>
        <p:spPr>
          <a:xfrm>
            <a:off x="3943350" y="23241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0.2671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292963-A294-4266-B12E-498F55E2882B}"/>
              </a:ext>
            </a:extLst>
          </p:cNvPr>
          <p:cNvSpPr>
            <a:spLocks noGrp="1"/>
          </p:cNvSpPr>
          <p:nvPr/>
        </p:nvSpPr>
        <p:spPr>
          <a:xfrm>
            <a:off x="5372100" y="22479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13B80B-5CC7-4B1D-9842-BF6D34FE0CC7}"/>
              </a:ext>
            </a:extLst>
          </p:cNvPr>
          <p:cNvSpPr>
            <a:spLocks noGrp="1"/>
          </p:cNvSpPr>
          <p:nvPr/>
        </p:nvSpPr>
        <p:spPr>
          <a:xfrm>
            <a:off x="5467350" y="23241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0.2460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17A2B7-D263-4276-A572-C727F2E27B8A}"/>
              </a:ext>
            </a:extLst>
          </p:cNvPr>
          <p:cNvSpPr>
            <a:spLocks noGrp="1"/>
          </p:cNvSpPr>
          <p:nvPr/>
        </p:nvSpPr>
        <p:spPr>
          <a:xfrm>
            <a:off x="6896100" y="22479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3CDBAA-00F8-40D7-9812-C0BA75CE7967}"/>
              </a:ext>
            </a:extLst>
          </p:cNvPr>
          <p:cNvSpPr>
            <a:spLocks noGrp="1"/>
          </p:cNvSpPr>
          <p:nvPr/>
        </p:nvSpPr>
        <p:spPr>
          <a:xfrm>
            <a:off x="6991350" y="23241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0.3098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29F94F-CDFF-4125-9A43-7A7D6A0514C3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3571AF-FA88-4B91-9B1C-8D6C064825EE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TF-IDF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B43696-0D13-43CE-BBBD-FB5EEF27D205}"/>
              </a:ext>
            </a:extLst>
          </p:cNvPr>
          <p:cNvSpPr>
            <a:spLocks noGrp="1"/>
          </p:cNvSpPr>
          <p:nvPr/>
        </p:nvSpPr>
        <p:spPr>
          <a:xfrm>
            <a:off x="2324100" y="276225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B0061B-CC5C-496D-9018-A9CF86C5CBFE}"/>
              </a:ext>
            </a:extLst>
          </p:cNvPr>
          <p:cNvSpPr>
            <a:spLocks noGrp="1"/>
          </p:cNvSpPr>
          <p:nvPr/>
        </p:nvSpPr>
        <p:spPr>
          <a:xfrm>
            <a:off x="2419350" y="28384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0.5656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82CBBE-1813-4ECF-856B-F1DF03F443C8}"/>
              </a:ext>
            </a:extLst>
          </p:cNvPr>
          <p:cNvSpPr>
            <a:spLocks noGrp="1"/>
          </p:cNvSpPr>
          <p:nvPr/>
        </p:nvSpPr>
        <p:spPr>
          <a:xfrm>
            <a:off x="3848100" y="276225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28BF2-B20C-458D-9AC4-CE594D48A17F}"/>
              </a:ext>
            </a:extLst>
          </p:cNvPr>
          <p:cNvSpPr>
            <a:spLocks noGrp="1"/>
          </p:cNvSpPr>
          <p:nvPr/>
        </p:nvSpPr>
        <p:spPr>
          <a:xfrm>
            <a:off x="3943350" y="28384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0.3154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E328BE-A3D2-4FCD-9D89-D6BB7E72069E}"/>
              </a:ext>
            </a:extLst>
          </p:cNvPr>
          <p:cNvSpPr>
            <a:spLocks noGrp="1"/>
          </p:cNvSpPr>
          <p:nvPr/>
        </p:nvSpPr>
        <p:spPr>
          <a:xfrm>
            <a:off x="5372100" y="276225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A8079E-7C87-44C6-9CC9-59FFCB838BE0}"/>
              </a:ext>
            </a:extLst>
          </p:cNvPr>
          <p:cNvSpPr>
            <a:spLocks noGrp="1"/>
          </p:cNvSpPr>
          <p:nvPr/>
        </p:nvSpPr>
        <p:spPr>
          <a:xfrm>
            <a:off x="5467350" y="28384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0.2882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FFDDB-F33F-4522-82B8-343AB111CA3B}"/>
              </a:ext>
            </a:extLst>
          </p:cNvPr>
          <p:cNvSpPr>
            <a:spLocks noGrp="1"/>
          </p:cNvSpPr>
          <p:nvPr/>
        </p:nvSpPr>
        <p:spPr>
          <a:xfrm>
            <a:off x="6896100" y="276225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C35B10-F32F-49E6-8D4B-DEECE04274C6}"/>
              </a:ext>
            </a:extLst>
          </p:cNvPr>
          <p:cNvSpPr>
            <a:spLocks noGrp="1"/>
          </p:cNvSpPr>
          <p:nvPr/>
        </p:nvSpPr>
        <p:spPr>
          <a:xfrm>
            <a:off x="6991350" y="28384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0.3513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0AC45F-AF3A-4EF5-B812-8404853388F4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A98910-D83B-4A1B-9FF1-4BC79CBF411F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ItemCF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EC2E63-3AC6-4B22-A58C-C23AB5E8AD9B}"/>
              </a:ext>
            </a:extLst>
          </p:cNvPr>
          <p:cNvSpPr>
            <a:spLocks noGrp="1"/>
          </p:cNvSpPr>
          <p:nvPr/>
        </p:nvSpPr>
        <p:spPr>
          <a:xfrm>
            <a:off x="2324100" y="32766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6BE8E-FCCD-41DA-9A2C-9069D1290C69}"/>
              </a:ext>
            </a:extLst>
          </p:cNvPr>
          <p:cNvSpPr>
            <a:spLocks noGrp="1"/>
          </p:cNvSpPr>
          <p:nvPr/>
        </p:nvSpPr>
        <p:spPr>
          <a:xfrm>
            <a:off x="2419350" y="33528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0.5212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A8C0B1-288D-4E9E-8768-5D53198348F9}"/>
              </a:ext>
            </a:extLst>
          </p:cNvPr>
          <p:cNvSpPr>
            <a:spLocks noGrp="1"/>
          </p:cNvSpPr>
          <p:nvPr/>
        </p:nvSpPr>
        <p:spPr>
          <a:xfrm>
            <a:off x="3848100" y="32766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EBA074-B559-48BB-92EE-FC2290C29B08}"/>
              </a:ext>
            </a:extLst>
          </p:cNvPr>
          <p:cNvSpPr>
            <a:spLocks noGrp="1"/>
          </p:cNvSpPr>
          <p:nvPr/>
        </p:nvSpPr>
        <p:spPr>
          <a:xfrm>
            <a:off x="3943350" y="33528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0.2634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D4CAE7-C59A-47CB-AAB5-AAE54173949C}"/>
              </a:ext>
            </a:extLst>
          </p:cNvPr>
          <p:cNvSpPr>
            <a:spLocks noGrp="1"/>
          </p:cNvSpPr>
          <p:nvPr/>
        </p:nvSpPr>
        <p:spPr>
          <a:xfrm>
            <a:off x="5372100" y="32766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58D3BF-FE2E-4C50-9EF5-9F6582DA6351}"/>
              </a:ext>
            </a:extLst>
          </p:cNvPr>
          <p:cNvSpPr>
            <a:spLocks noGrp="1"/>
          </p:cNvSpPr>
          <p:nvPr/>
        </p:nvSpPr>
        <p:spPr>
          <a:xfrm>
            <a:off x="5467350" y="33528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0.2406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129A31-42FC-4A00-8D42-08845E26BD2C}"/>
              </a:ext>
            </a:extLst>
          </p:cNvPr>
          <p:cNvSpPr>
            <a:spLocks noGrp="1"/>
          </p:cNvSpPr>
          <p:nvPr/>
        </p:nvSpPr>
        <p:spPr>
          <a:xfrm>
            <a:off x="6896100" y="3276600"/>
            <a:ext cx="1524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40BF60-27CF-4B9E-8B7D-E41B4362F286}"/>
              </a:ext>
            </a:extLst>
          </p:cNvPr>
          <p:cNvSpPr>
            <a:spLocks noGrp="1"/>
          </p:cNvSpPr>
          <p:nvPr/>
        </p:nvSpPr>
        <p:spPr>
          <a:xfrm>
            <a:off x="6991350" y="33528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0.3039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E1AAD2-5832-4799-9694-3F9B7761CBDA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71450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D35E96-682B-4DB7-BE31-113A32CE9363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Logistic Regression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C7785E-9009-4420-9780-BC69A463D981}"/>
              </a:ext>
            </a:extLst>
          </p:cNvPr>
          <p:cNvSpPr>
            <a:spLocks noGrp="1"/>
          </p:cNvSpPr>
          <p:nvPr/>
        </p:nvSpPr>
        <p:spPr>
          <a:xfrm>
            <a:off x="2324100" y="3790950"/>
            <a:ext cx="152400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16459B-3F6A-4941-BBAC-7CCB22A1B73C}"/>
              </a:ext>
            </a:extLst>
          </p:cNvPr>
          <p:cNvSpPr>
            <a:spLocks noGrp="1"/>
          </p:cNvSpPr>
          <p:nvPr/>
        </p:nvSpPr>
        <p:spPr>
          <a:xfrm>
            <a:off x="2419350" y="38671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0.6112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048889-66E1-46D6-8631-AF9F075DB4BC}"/>
              </a:ext>
            </a:extLst>
          </p:cNvPr>
          <p:cNvSpPr>
            <a:spLocks noGrp="1"/>
          </p:cNvSpPr>
          <p:nvPr/>
        </p:nvSpPr>
        <p:spPr>
          <a:xfrm>
            <a:off x="3848100" y="3790950"/>
            <a:ext cx="152400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BD6CB3-BE2A-43B1-8295-71D7CFD15A86}"/>
              </a:ext>
            </a:extLst>
          </p:cNvPr>
          <p:cNvSpPr>
            <a:spLocks noGrp="1"/>
          </p:cNvSpPr>
          <p:nvPr/>
        </p:nvSpPr>
        <p:spPr>
          <a:xfrm>
            <a:off x="3943350" y="38671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0.3130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10230C-A40E-4ED8-B7F1-9113734D3DC0}"/>
              </a:ext>
            </a:extLst>
          </p:cNvPr>
          <p:cNvSpPr>
            <a:spLocks noGrp="1"/>
          </p:cNvSpPr>
          <p:nvPr/>
        </p:nvSpPr>
        <p:spPr>
          <a:xfrm>
            <a:off x="5372100" y="3790950"/>
            <a:ext cx="152400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86A552-20B1-4B7C-9733-C98682392D13}"/>
              </a:ext>
            </a:extLst>
          </p:cNvPr>
          <p:cNvSpPr>
            <a:spLocks noGrp="1"/>
          </p:cNvSpPr>
          <p:nvPr/>
        </p:nvSpPr>
        <p:spPr>
          <a:xfrm>
            <a:off x="5467350" y="38671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0.3005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4BADE0-F862-41E6-8B2C-1D3351CCEFFA}"/>
              </a:ext>
            </a:extLst>
          </p:cNvPr>
          <p:cNvSpPr>
            <a:spLocks noGrp="1"/>
          </p:cNvSpPr>
          <p:nvPr/>
        </p:nvSpPr>
        <p:spPr>
          <a:xfrm>
            <a:off x="6896100" y="3790950"/>
            <a:ext cx="152400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3A0C43-2A73-4AB5-B20C-A2BE9FA59CFE}"/>
              </a:ext>
            </a:extLst>
          </p:cNvPr>
          <p:cNvSpPr>
            <a:spLocks noGrp="1"/>
          </p:cNvSpPr>
          <p:nvPr/>
        </p:nvSpPr>
        <p:spPr>
          <a:xfrm>
            <a:off x="6991350" y="386715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0.3640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7EDCF2-090B-4FC5-AE61-05E630D39D75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1714500" cy="514350"/>
          </a:xfrm>
          <a:prstGeom prst="rect">
            <a:avLst/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CDC45C-4945-4816-AD3E-8C6AD5A80E82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LightGBM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9BEEBF-E499-443D-A6ED-0FBD1A3B37B8}"/>
              </a:ext>
            </a:extLst>
          </p:cNvPr>
          <p:cNvSpPr>
            <a:spLocks noGrp="1"/>
          </p:cNvSpPr>
          <p:nvPr/>
        </p:nvSpPr>
        <p:spPr>
          <a:xfrm>
            <a:off x="2324100" y="4305300"/>
            <a:ext cx="1524000" cy="514350"/>
          </a:xfrm>
          <a:prstGeom prst="rect">
            <a:avLst/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D9BA52-7C1F-4E96-8BF7-CE4564B901DF}"/>
              </a:ext>
            </a:extLst>
          </p:cNvPr>
          <p:cNvSpPr>
            <a:spLocks noGrp="1"/>
          </p:cNvSpPr>
          <p:nvPr/>
        </p:nvSpPr>
        <p:spPr>
          <a:xfrm>
            <a:off x="2419350" y="43815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44546A"/>
                </a:solidFill>
              </a:defRPr>
            </a:pPr>
            <a:r>
              <a:rPr sz="1125" b="0">
                <a:solidFill>
                  <a:srgbClr val="44546A"/>
                </a:solidFill>
              </a:rPr>
              <a:t>0.6110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8971F44-7A04-4B0F-9BA2-0D778126EA46}"/>
              </a:ext>
            </a:extLst>
          </p:cNvPr>
          <p:cNvSpPr>
            <a:spLocks noGrp="1"/>
          </p:cNvSpPr>
          <p:nvPr/>
        </p:nvSpPr>
        <p:spPr>
          <a:xfrm>
            <a:off x="3848100" y="4305300"/>
            <a:ext cx="1524000" cy="514350"/>
          </a:xfrm>
          <a:prstGeom prst="rect">
            <a:avLst/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94ADDD-A7D3-4E6F-BE25-29F873F82F45}"/>
              </a:ext>
            </a:extLst>
          </p:cNvPr>
          <p:cNvSpPr>
            <a:spLocks noGrp="1"/>
          </p:cNvSpPr>
          <p:nvPr/>
        </p:nvSpPr>
        <p:spPr>
          <a:xfrm>
            <a:off x="3943350" y="43815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0.3332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70CFBDE-83F3-4BC8-A755-7E38B7F05091}"/>
              </a:ext>
            </a:extLst>
          </p:cNvPr>
          <p:cNvSpPr>
            <a:spLocks noGrp="1"/>
          </p:cNvSpPr>
          <p:nvPr/>
        </p:nvSpPr>
        <p:spPr>
          <a:xfrm>
            <a:off x="5372100" y="4305300"/>
            <a:ext cx="1524000" cy="514350"/>
          </a:xfrm>
          <a:prstGeom prst="rect">
            <a:avLst/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CCB1E4B-2CCB-4030-954E-79C522F8F4D1}"/>
              </a:ext>
            </a:extLst>
          </p:cNvPr>
          <p:cNvSpPr>
            <a:spLocks noGrp="1"/>
          </p:cNvSpPr>
          <p:nvPr/>
        </p:nvSpPr>
        <p:spPr>
          <a:xfrm>
            <a:off x="5467350" y="43815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0.3141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FE2FB91-D457-41C2-83FF-FE7A3FBF252C}"/>
              </a:ext>
            </a:extLst>
          </p:cNvPr>
          <p:cNvSpPr>
            <a:spLocks noGrp="1"/>
          </p:cNvSpPr>
          <p:nvPr/>
        </p:nvSpPr>
        <p:spPr>
          <a:xfrm>
            <a:off x="6896100" y="4305300"/>
            <a:ext cx="1524000" cy="514350"/>
          </a:xfrm>
          <a:prstGeom prst="rect">
            <a:avLst/>
          </a:prstGeom>
          <a:solidFill>
            <a:srgbClr val="EEF5F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F37B6AD-D651-4381-9F8F-4C3FFCD7B2ED}"/>
              </a:ext>
            </a:extLst>
          </p:cNvPr>
          <p:cNvSpPr>
            <a:spLocks noGrp="1"/>
          </p:cNvSpPr>
          <p:nvPr/>
        </p:nvSpPr>
        <p:spPr>
          <a:xfrm>
            <a:off x="6991350" y="4381500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4546A"/>
                </a:solidFill>
              </a:defRPr>
            </a:pPr>
            <a:r>
              <a:rPr sz="1125" b="1">
                <a:solidFill>
                  <a:srgbClr val="44546A"/>
                </a:solidFill>
              </a:rPr>
              <a:t>0.3716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1B351E0-274C-4074-8C84-1FFE2F3D7B4A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70675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63C50D3-F6C0-433E-9EBC-865526632BBD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6724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RECOMMENDATION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00EBF5-0AFA-484A-AEAA-FA9B56DCA3C7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67246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>
                <a:solidFill>
                  <a:srgbClr val="44546A"/>
                </a:solidFill>
              </a:rPr>
              <a:t>Use one baseline per stage.</a:t>
            </a:r>
          </a:p>
          <a:p>
            <a:endParaRPr sz="1050" b="0" dirty="0">
              <a:solidFill>
                <a:srgbClr val="44546A"/>
              </a:solidFill>
            </a:endParaRP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>
                <a:solidFill>
                  <a:srgbClr val="44546A"/>
                </a:solidFill>
              </a:rPr>
              <a:t>Recall: TF-IDF.</a:t>
            </a:r>
          </a:p>
          <a:p>
            <a:pPr algn="l">
              <a:defRPr sz="1050" b="0">
                <a:solidFill>
                  <a:srgbClr val="44546A"/>
                </a:solidFill>
              </a:defRPr>
            </a:pPr>
            <a:r>
              <a:rPr sz="1050" b="0" dirty="0">
                <a:solidFill>
                  <a:srgbClr val="44546A"/>
                </a:solidFill>
              </a:rPr>
              <a:t>Ranking: </a:t>
            </a:r>
            <a:r>
              <a:rPr sz="1050" b="0" dirty="0" err="1">
                <a:solidFill>
                  <a:srgbClr val="44546A"/>
                </a:solidFill>
              </a:rPr>
              <a:t>LightGBM</a:t>
            </a:r>
            <a:r>
              <a:rPr sz="1050" b="0" dirty="0">
                <a:solidFill>
                  <a:srgbClr val="44546A"/>
                </a:solidFill>
              </a:rPr>
              <a:t> CTR.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E25DBE8-5E69-4889-962C-FE57277FC3EF}"/>
              </a:ext>
            </a:extLst>
          </p:cNvPr>
          <p:cNvSpPr>
            <a:spLocks noGrp="1"/>
          </p:cNvSpPr>
          <p:nvPr/>
        </p:nvSpPr>
        <p:spPr>
          <a:xfrm>
            <a:off x="7924800" y="4933950"/>
            <a:ext cx="3657600" cy="152400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02D06F2-03E4-4BC3-9B11-B61C556635C5}"/>
              </a:ext>
            </a:extLst>
          </p:cNvPr>
          <p:cNvSpPr>
            <a:spLocks noGrp="1"/>
          </p:cNvSpPr>
          <p:nvPr/>
        </p:nvSpPr>
        <p:spPr>
          <a:xfrm>
            <a:off x="8096250" y="5067300"/>
            <a:ext cx="3314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472C4"/>
                </a:solidFill>
              </a:defRPr>
            </a:pPr>
            <a:r>
              <a:rPr sz="1050" b="1">
                <a:solidFill>
                  <a:srgbClr val="4472C4"/>
                </a:solidFill>
              </a:rPr>
              <a:t>NEXT STEPS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8257D76-ED22-44C0-BC12-CC92303559DF}"/>
              </a:ext>
            </a:extLst>
          </p:cNvPr>
          <p:cNvSpPr>
            <a:spLocks noGrp="1"/>
          </p:cNvSpPr>
          <p:nvPr/>
        </p:nvSpPr>
        <p:spPr>
          <a:xfrm>
            <a:off x="8096250" y="5353050"/>
            <a:ext cx="3314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 dirty="0">
                <a:solidFill>
                  <a:srgbClr val="44546A"/>
                </a:solidFill>
              </a:rPr>
              <a:t>1. Use TF-IDF as the recall-stage baseline.</a:t>
            </a:r>
          </a:p>
          <a:p>
            <a:pPr algn="l">
              <a:defRPr sz="1200" b="0">
                <a:solidFill>
                  <a:srgbClr val="44546A"/>
                </a:solidFill>
              </a:defRPr>
            </a:pPr>
            <a:r>
              <a:rPr sz="1200" b="0" dirty="0">
                <a:solidFill>
                  <a:srgbClr val="44546A"/>
                </a:solidFill>
              </a:rPr>
              <a:t>2. Use </a:t>
            </a:r>
            <a:r>
              <a:rPr sz="1200" b="0" dirty="0" err="1">
                <a:solidFill>
                  <a:srgbClr val="44546A"/>
                </a:solidFill>
              </a:rPr>
              <a:t>LightGBM</a:t>
            </a:r>
            <a:r>
              <a:rPr sz="1200" b="0" dirty="0">
                <a:solidFill>
                  <a:srgbClr val="44546A"/>
                </a:solidFill>
              </a:rPr>
              <a:t> CTR as the ranking-stage baseline.</a:t>
            </a:r>
            <a:endParaRPr lang="en-US" sz="1200" b="0" dirty="0">
              <a:solidFill>
                <a:srgbClr val="44546A"/>
              </a:solidFill>
            </a:endParaRP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lang="en-US" altLang="zh-CN" sz="1200" dirty="0">
                <a:solidFill>
                  <a:srgbClr val="44546A"/>
                </a:solidFill>
              </a:rPr>
              <a:t>3.</a:t>
            </a:r>
            <a:r>
              <a:rPr lang="zh-CN" altLang="en-US" sz="1200" dirty="0">
                <a:solidFill>
                  <a:srgbClr val="44546A"/>
                </a:solidFill>
              </a:rPr>
              <a:t> </a:t>
            </a:r>
            <a:r>
              <a:rPr lang="en-US" sz="1200" dirty="0"/>
              <a:t>use a neural model (preferably NRMS, </a:t>
            </a:r>
            <a:r>
              <a:rPr lang="zh-CN" altLang="en-US" sz="1200" dirty="0"/>
              <a:t>   </a:t>
            </a:r>
            <a:r>
              <a:rPr lang="en-US" sz="1200" dirty="0"/>
              <a:t>or NAML/LSTUR) to rescore and reorder those candidates.</a:t>
            </a:r>
            <a:endParaRPr sz="1200" b="0" dirty="0">
              <a:solidFill>
                <a:srgbClr val="44546A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F0F2E7F-5712-43D4-ABD3-31B52A2AC45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Best AUC: Logistic Regression 0.6112. Best MRR / nDCG: LightGBM 0.3332 / 0.3141 / 0.3716.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57DC57-9BB0-EB06-8380-9EDDEF3443AE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FB710DE-C979-A0AD-BD68-FC93F2C0B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0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DE22-C4E2-85AB-C8AB-4DF83562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809924-8D21-2922-B02C-F01D8F9F395A}"/>
              </a:ext>
            </a:extLst>
          </p:cNvPr>
          <p:cNvSpPr>
            <a:spLocks noGrp="1"/>
          </p:cNvSpPr>
          <p:nvPr/>
        </p:nvSpPr>
        <p:spPr>
          <a:xfrm>
            <a:off x="11087100" y="133350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4472C4"/>
                </a:solidFill>
              </a:defRPr>
            </a:pPr>
            <a:r>
              <a:rPr sz="1350" b="1" dirty="0">
                <a:solidFill>
                  <a:srgbClr val="4472C4"/>
                </a:solidFill>
              </a:rPr>
              <a:t>1</a:t>
            </a:r>
            <a:r>
              <a:rPr lang="en-US" altLang="zh-CN" sz="1350" b="1" dirty="0">
                <a:solidFill>
                  <a:srgbClr val="4472C4"/>
                </a:solidFill>
              </a:rPr>
              <a:t>6</a:t>
            </a:r>
            <a:endParaRPr sz="1350" b="1" dirty="0">
              <a:solidFill>
                <a:srgbClr val="4472C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E6C35-FF07-BF1F-7EBC-4A359F1ABD33}"/>
              </a:ext>
            </a:extLst>
          </p:cNvPr>
          <p:cNvSpPr>
            <a:spLocks noGrp="1"/>
          </p:cNvSpPr>
          <p:nvPr/>
        </p:nvSpPr>
        <p:spPr>
          <a:xfrm>
            <a:off x="590550" y="72096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rgbClr val="000000"/>
                </a:solidFill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</a:rPr>
              <a:t>&amp;A</a:t>
            </a:r>
            <a:endParaRPr sz="2400" b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4ADE1-20F8-AB81-9D0B-C0153A5585BB}"/>
              </a:ext>
            </a:extLst>
          </p:cNvPr>
          <p:cNvSpPr>
            <a:spLocks noGrp="1"/>
          </p:cNvSpPr>
          <p:nvPr/>
        </p:nvSpPr>
        <p:spPr>
          <a:xfrm>
            <a:off x="590550" y="2121921"/>
            <a:ext cx="10496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 </a:t>
            </a:r>
            <a:r>
              <a:rPr lang="en-US" b="1" dirty="0"/>
              <a:t>We’re planning to use a more advanced model next. Does this direction make sense, or would you suggest a different priority?</a:t>
            </a:r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6CC6DC-9445-65A1-1590-AF058511D635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77600" cy="190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EAEF2C7-6E06-459E-EEE2-85A981C65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817" y="-134540"/>
            <a:ext cx="2956648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F0DC69-9D17-9723-2694-02D415C6F92D}"/>
              </a:ext>
            </a:extLst>
          </p:cNvPr>
          <p:cNvSpPr txBox="1"/>
          <p:nvPr/>
        </p:nvSpPr>
        <p:spPr>
          <a:xfrm>
            <a:off x="523874" y="3789582"/>
            <a:ext cx="10496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 </a:t>
            </a:r>
            <a:r>
              <a:rPr lang="en-US" b="1" dirty="0"/>
              <a:t>For cold-start scenarios, particularly when user interaction data is limited, which approach would you recommend prioritizing? We are planning to build a dashboard or application to demonstrate our model’s real-world behavior, and we expect to encounter this issue in practice.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050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2613</Words>
  <Application>Microsoft Macintosh PowerPoint</Application>
  <DocSecurity>0</DocSecurity>
  <PresentationFormat>Widescreen</PresentationFormat>
  <Paragraphs>432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ChatGPT</vt:lpstr>
      <vt:lpstr> MIND: MIcrosoft News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XIANGNING DENG</cp:lastModifiedBy>
  <cp:revision>63</cp:revision>
  <dcterms:created xsi:type="dcterms:W3CDTF">2026-04-22T04:43:24Z</dcterms:created>
  <dcterms:modified xsi:type="dcterms:W3CDTF">2026-04-22T06:23:25Z</dcterms:modified>
</cp:coreProperties>
</file>